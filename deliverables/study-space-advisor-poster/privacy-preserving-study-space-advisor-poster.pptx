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0c04194f1f4be0" /><Relationship Type="http://schemas.openxmlformats.org/officeDocument/2006/relationships/extended-properties" Target="/docProps/app.xml" Id="R6e3561eb72614b04" /><Relationship Type="http://schemas.openxmlformats.org/officeDocument/2006/relationships/officeDocument" Target="/ppt/presentation.xml" Id="R6236d05990184c07" /></Relationships>
</file>

<file path=ppt/presentation.xml><?xml version="1.0" encoding="utf-8"?>
<p:presentation xmlns:p="http://schemas.openxmlformats.org/presentationml/2006/main">
  <p:sldMasterIdLst>
    <p:sldMasterId xmlns:r="http://schemas.openxmlformats.org/officeDocument/2006/relationships" id="2147483648" r:id="R207c2fc960e44e5b"/>
  </p:sldMasterIdLst>
  <p:notesMasterIdLst>
    <p:notesMasterId xmlns:r="http://schemas.openxmlformats.org/officeDocument/2006/relationships" r:id="R2e9483c86b6c4edf"/>
  </p:notesMasterIdLst>
  <p:sldIdLst>
    <p:sldId xmlns:r="http://schemas.openxmlformats.org/officeDocument/2006/relationships" id="256" r:id="Rf3b2ef1e53cb4a03"/>
  </p:sldIdLst>
  <p:sldSz cx="7562850" cy="1069657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e1f19c12254e88" /><Relationship Type="http://schemas.openxmlformats.org/officeDocument/2006/relationships/slideMaster" Target="/ppt/slideMasters/slideMaster1.xml" Id="R207c2fc960e44e5b" /><Relationship Type="http://schemas.openxmlformats.org/officeDocument/2006/relationships/notesMaster" Target="/ppt/notesMasters/notesMaster1.xml" Id="R2e9483c86b6c4edf" /><Relationship Type="http://schemas.openxmlformats.org/officeDocument/2006/relationships/presProps" Target="/ppt/presProps.xml" Id="R2413e20fe5194f2a" /><Relationship Type="http://schemas.openxmlformats.org/officeDocument/2006/relationships/tableStyles" Target="/ppt/tableStyles.xml" Id="Rec7088e356034653" /><Relationship Type="http://schemas.openxmlformats.org/officeDocument/2006/relationships/slide" Target="/ppt/slides/slide1.xml" Id="Rf3b2ef1e53cb4a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8d628b4f7a4b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ec12d176b84ddd" /><Relationship Type="http://schemas.openxmlformats.org/officeDocument/2006/relationships/notesMaster" Target="/ppt/notesMasters/notesMaster1.xml" Id="R3ea67657eef84a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 poster brief, 2026-07-27.</a:t>
            </a:r>
          </a:p>
          <a:p xmlns:a="http://schemas.openxmlformats.org/drawingml/2006/main">
            <a:r>
              <a:t>Repository: README.md; origin/main:README.md; docs/module-specs/00_SHARED_CONTRACT.md; shared/contracts/*.schema.json; edge/hardware/MODULE1_HANDOFF.md; origin/main:edge/hardware/REAL_DATASET_GUIDE.md; origin/main:edge/hardware/MODEL_TRAINING_READINESS_REPORT.md; backend/README.md; backend/MODULE3_HANDOFF.md; origin/main:backend/PERFORMANCE.md; frontend/MODULE4_HANDOFF.md; tests/integration/GATE_A_HANDOFF.md.</a:t>
            </a:r>
          </a:p>
          <a:p xmlns:a="http://schemas.openxmlformats.org/drawingml/2006/main">
            <a:r>
              <a:t>Screenshots: local repository UI at /?mode=mock and /thermal?room=room_a&amp;mode=mock, captured 2026-07-27.</a:t>
            </a:r>
          </a:p>
          <a:p xmlns:a="http://schemas.openxmlformats.org/drawingml/2006/main">
            <a:r>
              <a:t>No externally sourced images. Hardware panorama not supplied; editable placeholder retained.</a:t>
            </a:r>
          </a:p>
          <a:p xmlns:a="http://schemas.openxmlformats.org/drawingml/2006/main">
            <a:r>
              <a:t>Metrics: 4 real sessions / 36 five-second windows / 176 thermal frames. 32.82 ms is localhost Observation-write P95 under the narrow conditions documented in backend/PERFORMANCE.md. No model accuracy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afdcfb256943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7d219dc95b4643" /><Relationship Type="http://schemas.openxmlformats.org/officeDocument/2006/relationships/slideLayout" Target="/ppt/slideLayouts/slideLayout1.xml" Id="R02aaa1d3395541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aaa1d3395541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e9cecb74f724014" /><Relationship Type="http://schemas.openxmlformats.org/officeDocument/2006/relationships/image" Target="/ppt/media/image.jpeg" Id="R5edd3f1cd44f4935" /><Relationship Type="http://schemas.openxmlformats.org/officeDocument/2006/relationships/image" Target="/ppt/media/image2.jpeg" Id="R559e95ce1f784a28" /><Relationship Type="http://schemas.openxmlformats.org/officeDocument/2006/relationships/notesSlide" Target="/ppt/notesSlides/notesSlide1.xml" Id="R589fa21982a14d6a" /></Relationships>
</file>

<file path=ppt/slides/slide1.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03" name="header-field">
            <a:extLst xmlns:a="http://schemas.openxmlformats.org/drawingml/2006/main">
              <a:ext uri="{FF2B5EF4-FFF2-40B4-BE49-F238E27FC236}">
                <a16:creationId xmlns:a16="http://schemas.microsoft.com/office/drawing/2014/main" id="{F3EFE7FA-CB7B-4122-997B-B232A2E4B2F0}"/>
              </a:ext>
            </a:extLst>
          </p:cNvPr>
          <p:cNvSpPr>
            <a:spLocks xmlns:a="http://schemas.openxmlformats.org/drawingml/2006/main" noGrp="1"/>
          </p:cNvSpPr>
          <p:nvPr/>
        </p:nvSpPr>
        <p:spPr>
          <a:xfrm xmlns:a="http://schemas.openxmlformats.org/drawingml/2006/main">
            <a:off x="0" y="0"/>
            <a:ext cx="7562850" cy="1504950"/>
          </a:xfrm>
          <a:prstGeom xmlns:a="http://schemas.openxmlformats.org/drawingml/2006/main" prst="rect">
            <a:avLst/>
          </a:prstGeom>
          <a:solidFill xmlns:a="http://schemas.openxmlformats.org/drawingml/2006/main">
            <a:srgbClr val="002B57"/>
          </a:solidFill>
          <a:ln xmlns:a="http://schemas.openxmlformats.org/drawingml/2006/main" w="0">
            <a:noFill/>
            <a:prstDash val="solid"/>
          </a:ln>
        </p:spPr>
      </p:sp>
      <p:sp>
        <p:nvSpPr>
          <p:cNvPr id="2" name="header-orange-rule">
            <a:extLst xmlns:a="http://schemas.openxmlformats.org/drawingml/2006/main">
              <a:ext uri="{FF2B5EF4-FFF2-40B4-BE49-F238E27FC236}">
                <a16:creationId xmlns:a16="http://schemas.microsoft.com/office/drawing/2014/main" id="{86685C32-45DC-4C0D-98BF-BF2957100F81}"/>
              </a:ext>
            </a:extLst>
          </p:cNvPr>
          <p:cNvSpPr>
            <a:spLocks xmlns:a="http://schemas.openxmlformats.org/drawingml/2006/main" noGrp="1"/>
          </p:cNvSpPr>
          <p:nvPr/>
        </p:nvSpPr>
        <p:spPr>
          <a:xfrm xmlns:a="http://schemas.openxmlformats.org/drawingml/2006/main">
            <a:off x="0" y="1447800"/>
            <a:ext cx="7562850" cy="57150"/>
          </a:xfrm>
          <a:prstGeom xmlns:a="http://schemas.openxmlformats.org/drawingml/2006/main" prst="rect">
            <a:avLst/>
          </a:prstGeom>
          <a:solidFill xmlns:a="http://schemas.openxmlformats.org/drawingml/2006/main">
            <a:srgbClr val="EF7C00"/>
          </a:solidFill>
          <a:ln xmlns:a="http://schemas.openxmlformats.org/drawingml/2006/main" w="0">
            <a:noFill/>
            <a:prstDash val="solid"/>
          </a:ln>
        </p:spPr>
      </p:sp>
      <p:sp>
        <p:nvSpPr>
          <p:cNvPr id="3" name="nus-mark">
            <a:extLst xmlns:a="http://schemas.openxmlformats.org/drawingml/2006/main">
              <a:ext uri="{FF2B5EF4-FFF2-40B4-BE49-F238E27FC236}">
                <a16:creationId xmlns:a16="http://schemas.microsoft.com/office/drawing/2014/main" id="{3C00396F-C995-43C9-9AB4-C6D6E666953E}"/>
              </a:ext>
            </a:extLst>
          </p:cNvPr>
          <p:cNvSpPr>
            <a:spLocks xmlns:a="http://schemas.openxmlformats.org/drawingml/2006/main" noGrp="1"/>
          </p:cNvSpPr>
          <p:nvPr/>
        </p:nvSpPr>
        <p:spPr>
          <a:xfrm xmlns:a="http://schemas.openxmlformats.org/drawingml/2006/main">
            <a:off x="4933950" y="2476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975" b="1">
                <a:solidFill>
                  <a:srgbClr val="EF7C00"/>
                </a:solidFill>
                <a:latin typeface="Aptos"/>
                <a:ea typeface="Aptos"/>
                <a:cs typeface="Aptos"/>
              </a:defRPr>
            </a:pPr>
            <a:r>
              <a:rPr sz="975" b="1">
                <a:solidFill>
                  <a:srgbClr val="EF7C00"/>
                </a:solidFill>
                <a:latin typeface="Aptos"/>
                <a:ea typeface="Aptos"/>
                <a:cs typeface="Aptos"/>
              </a:rPr>
              <a:t>NUS SCHOOL OF COMPUTING</a:t>
            </a:r>
          </a:p>
        </p:txBody>
      </p:sp>
      <p:sp>
        <p:nvSpPr>
          <p:cNvPr id="4" name="poster-title">
            <a:extLst xmlns:a="http://schemas.openxmlformats.org/drawingml/2006/main">
              <a:ext uri="{FF2B5EF4-FFF2-40B4-BE49-F238E27FC236}">
                <a16:creationId xmlns:a16="http://schemas.microsoft.com/office/drawing/2014/main" id="{42C20A04-B4AF-460D-B932-C31677A29EFD}"/>
              </a:ext>
            </a:extLst>
          </p:cNvPr>
          <p:cNvSpPr>
            <a:spLocks xmlns:a="http://schemas.openxmlformats.org/drawingml/2006/main" noGrp="1"/>
          </p:cNvSpPr>
          <p:nvPr/>
        </p:nvSpPr>
        <p:spPr>
          <a:xfrm xmlns:a="http://schemas.openxmlformats.org/drawingml/2006/main">
            <a:off x="438150" y="238125"/>
            <a:ext cx="58102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938"/>
          </a:bodyPr>
          <a:lstStyle xmlns:a="http://schemas.openxmlformats.org/drawingml/2006/main"/>
          <a:p xmlns:a="http://schemas.openxmlformats.org/drawingml/2006/main">
            <a:pPr algn="l">
              <a:lnSpc>
                <a:spcPct val="90000"/>
              </a:lnSpc>
              <a:buNone/>
              <a:defRPr sz="2850" b="1">
                <a:solidFill>
                  <a:srgbClr val="FFFFFF"/>
                </a:solidFill>
                <a:latin typeface="Aptos"/>
                <a:ea typeface="Aptos"/>
                <a:cs typeface="Aptos"/>
              </a:defRPr>
            </a:pPr>
            <a:r>
              <a:rPr sz="2850" b="1">
                <a:solidFill>
                  <a:srgbClr val="FFFFFF"/>
                </a:solidFill>
                <a:latin typeface="Aptos"/>
                <a:ea typeface="Aptos"/>
                <a:cs typeface="Aptos"/>
              </a:rPr>
              <a:t>Privacy-Preserving</a:t>
            </a:r>
          </a:p>
          <a:p xmlns:a="http://schemas.openxmlformats.org/drawingml/2006/main">
            <a:pPr algn="l">
              <a:lnSpc>
                <a:spcPct val="90000"/>
              </a:lnSpc>
              <a:buNone/>
              <a:defRPr sz="2850" b="1">
                <a:solidFill>
                  <a:srgbClr val="FFFFFF"/>
                </a:solidFill>
                <a:latin typeface="Aptos"/>
                <a:ea typeface="Aptos"/>
                <a:cs typeface="Aptos"/>
              </a:defRPr>
            </a:pPr>
            <a:r>
              <a:rPr sz="2850" b="1">
                <a:solidFill>
                  <a:srgbClr val="FFFFFF"/>
                </a:solidFill>
                <a:latin typeface="Aptos"/>
                <a:ea typeface="Aptos"/>
                <a:cs typeface="Aptos"/>
              </a:rPr>
              <a:t>Study Space Advisor</a:t>
            </a:r>
          </a:p>
        </p:txBody>
      </p:sp>
      <p:sp>
        <p:nvSpPr>
          <p:cNvPr id="5" name="value-proposition">
            <a:extLst xmlns:a="http://schemas.openxmlformats.org/drawingml/2006/main">
              <a:ext uri="{FF2B5EF4-FFF2-40B4-BE49-F238E27FC236}">
                <a16:creationId xmlns:a16="http://schemas.microsoft.com/office/drawing/2014/main" id="{4D277DE5-43E1-4A55-89C0-AF1847D25168}"/>
              </a:ext>
            </a:extLst>
          </p:cNvPr>
          <p:cNvSpPr>
            <a:spLocks xmlns:a="http://schemas.openxmlformats.org/drawingml/2006/main" noGrp="1"/>
          </p:cNvSpPr>
          <p:nvPr/>
        </p:nvSpPr>
        <p:spPr>
          <a:xfrm xmlns:a="http://schemas.openxmlformats.org/drawingml/2006/main">
            <a:off x="438150" y="990600"/>
            <a:ext cx="6238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02" b="0">
                <a:solidFill>
                  <a:srgbClr val="F7F7F3"/>
                </a:solidFill>
                <a:latin typeface="Aptos"/>
                <a:ea typeface="Aptos"/>
                <a:cs typeface="Aptos"/>
              </a:defRPr>
            </a:pPr>
            <a:r>
              <a:rPr sz="1402" b="0">
                <a:solidFill>
                  <a:srgbClr val="F7F7F3"/>
                </a:solidFill>
                <a:latin typeface="Aptos"/>
                <a:ea typeface="Aptos"/>
                <a:cs typeface="Aptos"/>
              </a:rPr>
              <a:t>Find the right place to study — without cameras or identity tracking.</a:t>
            </a:r>
          </a:p>
        </p:txBody>
      </p:sp>
      <p:sp>
        <p:nvSpPr>
          <p:cNvPr id="6" name="event-meta">
            <a:extLst xmlns:a="http://schemas.openxmlformats.org/drawingml/2006/main">
              <a:ext uri="{FF2B5EF4-FFF2-40B4-BE49-F238E27FC236}">
                <a16:creationId xmlns:a16="http://schemas.microsoft.com/office/drawing/2014/main" id="{5D89B156-7EF4-47C7-A5B4-86ACD85BAF39}"/>
              </a:ext>
            </a:extLst>
          </p:cNvPr>
          <p:cNvSpPr>
            <a:spLocks xmlns:a="http://schemas.openxmlformats.org/drawingml/2006/main" noGrp="1"/>
          </p:cNvSpPr>
          <p:nvPr/>
        </p:nvSpPr>
        <p:spPr>
          <a:xfrm xmlns:a="http://schemas.openxmlformats.org/drawingml/2006/main">
            <a:off x="438150" y="1276350"/>
            <a:ext cx="6686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63" b="0">
                <a:solidFill>
                  <a:srgbClr val="C9D7E5"/>
                </a:solidFill>
                <a:latin typeface="Aptos"/>
                <a:ea typeface="Aptos"/>
                <a:cs typeface="Aptos"/>
              </a:defRPr>
            </a:pPr>
            <a:r>
              <a:rPr sz="863" b="0">
                <a:solidFill>
                  <a:srgbClr val="C9D7E5"/>
                </a:solidFill>
                <a:latin typeface="Aptos"/>
                <a:ea typeface="Aptos"/>
                <a:cs typeface="Aptos"/>
              </a:rPr>
              <a:t>Summer Workshop 2026  /  Group [GROUP_NUMBER]  /  [MEMBERS]</a:t>
            </a:r>
          </a:p>
        </p:txBody>
      </p:sp>
      <p:sp>
        <p:nvSpPr>
          <p:cNvPr id="7" name="section-PROBLEM &amp; SOLUTION">
            <a:extLst xmlns:a="http://schemas.openxmlformats.org/drawingml/2006/main">
              <a:ext uri="{FF2B5EF4-FFF2-40B4-BE49-F238E27FC236}">
                <a16:creationId xmlns:a16="http://schemas.microsoft.com/office/drawing/2014/main" id="{1E913E57-49A9-4C4E-AA28-9B3DA6C42D14}"/>
              </a:ext>
            </a:extLst>
          </p:cNvPr>
          <p:cNvSpPr>
            <a:spLocks xmlns:a="http://schemas.openxmlformats.org/drawingml/2006/main" noGrp="1"/>
          </p:cNvSpPr>
          <p:nvPr/>
        </p:nvSpPr>
        <p:spPr>
          <a:xfrm xmlns:a="http://schemas.openxmlformats.org/drawingml/2006/main">
            <a:off x="438150" y="1619250"/>
            <a:ext cx="66865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466"/>
          </a:bodyPr>
          <a:lstStyle xmlns:a="http://schemas.openxmlformats.org/drawingml/2006/main"/>
          <a:p xmlns:a="http://schemas.openxmlformats.org/drawingml/2006/main">
            <a:pPr algn="l">
              <a:lnSpc>
                <a:spcPct val="100000"/>
              </a:lnSpc>
              <a:buNone/>
              <a:defRPr sz="1538" b="1">
                <a:solidFill>
                  <a:srgbClr val="003D7C"/>
                </a:solidFill>
                <a:latin typeface="Aptos"/>
                <a:ea typeface="Aptos"/>
                <a:cs typeface="Aptos"/>
              </a:defRPr>
            </a:pPr>
            <a:r>
              <a:rPr sz="1538" b="1">
                <a:solidFill>
                  <a:srgbClr val="003D7C"/>
                </a:solidFill>
                <a:latin typeface="Aptos"/>
                <a:ea typeface="Aptos"/>
                <a:cs typeface="Aptos"/>
              </a:rPr>
              <a:t>PROBLEM &amp; SOLUTION</a:t>
            </a:r>
          </a:p>
        </p:txBody>
      </p:sp>
      <p:sp>
        <p:nvSpPr>
          <p:cNvPr id="8" name="rule-PROBLEM &amp; SOLUTION">
            <a:extLst xmlns:a="http://schemas.openxmlformats.org/drawingml/2006/main">
              <a:ext uri="{FF2B5EF4-FFF2-40B4-BE49-F238E27FC236}">
                <a16:creationId xmlns:a16="http://schemas.microsoft.com/office/drawing/2014/main" id="{433016B4-D745-4EFF-A4A2-FAE5EFC6A1BD}"/>
              </a:ext>
            </a:extLst>
          </p:cNvPr>
          <p:cNvSpPr>
            <a:spLocks xmlns:a="http://schemas.openxmlformats.org/drawingml/2006/main" noGrp="1"/>
          </p:cNvSpPr>
          <p:nvPr/>
        </p:nvSpPr>
        <p:spPr>
          <a:xfrm xmlns:a="http://schemas.openxmlformats.org/drawingml/2006/main">
            <a:off x="438150" y="1847850"/>
            <a:ext cx="6686550" cy="0"/>
          </a:xfrm>
          <a:prstGeom xmlns:a="http://schemas.openxmlformats.org/drawingml/2006/main" prst="line">
            <a:avLst/>
          </a:prstGeom>
          <a:noFill xmlns:a="http://schemas.openxmlformats.org/drawingml/2006/main"/>
          <a:ln xmlns:a="http://schemas.openxmlformats.org/drawingml/2006/main" w="9525">
            <a:solidFill>
              <a:srgbClr val="CAD4DE"/>
            </a:solidFill>
            <a:prstDash val="solid"/>
          </a:ln>
        </p:spPr>
      </p:sp>
      <p:sp>
        <p:nvSpPr>
          <p:cNvPr id="9" name="accent-PROBLEM &amp; SOLUTION">
            <a:extLst xmlns:a="http://schemas.openxmlformats.org/drawingml/2006/main">
              <a:ext uri="{FF2B5EF4-FFF2-40B4-BE49-F238E27FC236}">
                <a16:creationId xmlns:a16="http://schemas.microsoft.com/office/drawing/2014/main" id="{CA740060-A28F-478D-9BF1-2077A6A194E8}"/>
              </a:ext>
            </a:extLst>
          </p:cNvPr>
          <p:cNvSpPr>
            <a:spLocks xmlns:a="http://schemas.openxmlformats.org/drawingml/2006/main" noGrp="1"/>
          </p:cNvSpPr>
          <p:nvPr/>
        </p:nvSpPr>
        <p:spPr>
          <a:xfrm xmlns:a="http://schemas.openxmlformats.org/drawingml/2006/main">
            <a:off x="438150" y="1847850"/>
            <a:ext cx="552450" cy="0"/>
          </a:xfrm>
          <a:prstGeom xmlns:a="http://schemas.openxmlformats.org/drawingml/2006/main" prst="line">
            <a:avLst/>
          </a:prstGeom>
          <a:noFill xmlns:a="http://schemas.openxmlformats.org/drawingml/2006/main"/>
          <a:ln xmlns:a="http://schemas.openxmlformats.org/drawingml/2006/main" w="28575">
            <a:solidFill>
              <a:srgbClr val="EF7C00"/>
            </a:solidFill>
            <a:prstDash val="solid"/>
          </a:ln>
        </p:spPr>
      </p:sp>
      <p:sp>
        <p:nvSpPr>
          <p:cNvPr id="10" name="problem-label">
            <a:extLst xmlns:a="http://schemas.openxmlformats.org/drawingml/2006/main">
              <a:ext uri="{FF2B5EF4-FFF2-40B4-BE49-F238E27FC236}">
                <a16:creationId xmlns:a16="http://schemas.microsoft.com/office/drawing/2014/main" id="{3E7CB9F2-3F52-4ABC-919D-B7DE31C839A2}"/>
              </a:ext>
            </a:extLst>
          </p:cNvPr>
          <p:cNvSpPr>
            <a:spLocks xmlns:a="http://schemas.openxmlformats.org/drawingml/2006/main" noGrp="1"/>
          </p:cNvSpPr>
          <p:nvPr/>
        </p:nvSpPr>
        <p:spPr>
          <a:xfrm xmlns:a="http://schemas.openxmlformats.org/drawingml/2006/main">
            <a:off x="438150" y="193357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51"/>
          </a:bodyPr>
          <a:lstStyle xmlns:a="http://schemas.openxmlformats.org/drawingml/2006/main"/>
          <a:p xmlns:a="http://schemas.openxmlformats.org/drawingml/2006/main">
            <a:pPr algn="l">
              <a:lnSpc>
                <a:spcPct val="102000"/>
              </a:lnSpc>
              <a:buNone/>
              <a:defRPr sz="1402" b="1">
                <a:solidFill>
                  <a:srgbClr val="EF7C00"/>
                </a:solidFill>
                <a:latin typeface="Aptos"/>
                <a:ea typeface="Aptos"/>
                <a:cs typeface="Aptos"/>
              </a:defRPr>
            </a:pPr>
            <a:r>
              <a:rPr sz="1402" b="1">
                <a:solidFill>
                  <a:srgbClr val="EF7C00"/>
                </a:solidFill>
                <a:latin typeface="Aptos"/>
                <a:ea typeface="Aptos"/>
                <a:cs typeface="Aptos"/>
              </a:rPr>
              <a:t>PROBLEM</a:t>
            </a:r>
          </a:p>
        </p:txBody>
      </p:sp>
      <p:sp>
        <p:nvSpPr>
          <p:cNvPr id="11" name="problem-copy">
            <a:extLst xmlns:a="http://schemas.openxmlformats.org/drawingml/2006/main">
              <a:ext uri="{FF2B5EF4-FFF2-40B4-BE49-F238E27FC236}">
                <a16:creationId xmlns:a16="http://schemas.microsoft.com/office/drawing/2014/main" id="{230C3481-2948-438A-A21C-E5435921797A}"/>
              </a:ext>
            </a:extLst>
          </p:cNvPr>
          <p:cNvSpPr>
            <a:spLocks xmlns:a="http://schemas.openxmlformats.org/drawingml/2006/main" noGrp="1"/>
          </p:cNvSpPr>
          <p:nvPr/>
        </p:nvSpPr>
        <p:spPr>
          <a:xfrm xmlns:a="http://schemas.openxmlformats.org/drawingml/2006/main">
            <a:off x="438150" y="2181225"/>
            <a:ext cx="3095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402" b="0">
                <a:solidFill>
                  <a:srgbClr val="142433"/>
                </a:solidFill>
                <a:latin typeface="Aptos"/>
                <a:ea typeface="Aptos"/>
                <a:cs typeface="Aptos"/>
              </a:defRPr>
            </a:pPr>
            <a:r>
              <a:rPr sz="1402" b="0">
                <a:solidFill>
                  <a:srgbClr val="142433"/>
                </a:solidFill>
                <a:latin typeface="Aptos"/>
                <a:ea typeface="Aptos"/>
                <a:cs typeface="Aptos"/>
              </a:rPr>
              <a:t>Students spend time searching for a space that fits their study mode. Current availability is only one part of the decision. Occupancy alone cannot describe quietness, comfort or whether discussion is appropriate. Camera monitoring adds unnecessary privacy risk.</a:t>
            </a:r>
          </a:p>
        </p:txBody>
      </p:sp>
      <p:sp>
        <p:nvSpPr>
          <p:cNvPr id="12" name="problem-divider">
            <a:extLst xmlns:a="http://schemas.openxmlformats.org/drawingml/2006/main">
              <a:ext uri="{FF2B5EF4-FFF2-40B4-BE49-F238E27FC236}">
                <a16:creationId xmlns:a16="http://schemas.microsoft.com/office/drawing/2014/main" id="{CCB56E61-8324-4F4E-AE98-F3BF1B4FFA34}"/>
              </a:ext>
            </a:extLst>
          </p:cNvPr>
          <p:cNvSpPr>
            <a:spLocks xmlns:a="http://schemas.openxmlformats.org/drawingml/2006/main" noGrp="1"/>
          </p:cNvSpPr>
          <p:nvPr/>
        </p:nvSpPr>
        <p:spPr>
          <a:xfrm xmlns:a="http://schemas.openxmlformats.org/drawingml/2006/main">
            <a:off x="3705225" y="1952625"/>
            <a:ext cx="0" cy="1571625"/>
          </a:xfrm>
          <a:prstGeom xmlns:a="http://schemas.openxmlformats.org/drawingml/2006/main" prst="line">
            <a:avLst/>
          </a:prstGeom>
          <a:noFill xmlns:a="http://schemas.openxmlformats.org/drawingml/2006/main"/>
          <a:ln xmlns:a="http://schemas.openxmlformats.org/drawingml/2006/main" w="9525">
            <a:solidFill>
              <a:srgbClr val="CAD4DE"/>
            </a:solidFill>
            <a:prstDash val="solid"/>
          </a:ln>
        </p:spPr>
      </p:sp>
      <p:sp>
        <p:nvSpPr>
          <p:cNvPr id="13" name="solution-label">
            <a:extLst xmlns:a="http://schemas.openxmlformats.org/drawingml/2006/main">
              <a:ext uri="{FF2B5EF4-FFF2-40B4-BE49-F238E27FC236}">
                <a16:creationId xmlns:a16="http://schemas.microsoft.com/office/drawing/2014/main" id="{3828F5F8-B36F-4B6C-87A6-84B13BCBA722}"/>
              </a:ext>
            </a:extLst>
          </p:cNvPr>
          <p:cNvSpPr>
            <a:spLocks xmlns:a="http://schemas.openxmlformats.org/drawingml/2006/main" noGrp="1"/>
          </p:cNvSpPr>
          <p:nvPr/>
        </p:nvSpPr>
        <p:spPr>
          <a:xfrm xmlns:a="http://schemas.openxmlformats.org/drawingml/2006/main">
            <a:off x="3876675" y="193357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51"/>
          </a:bodyPr>
          <a:lstStyle xmlns:a="http://schemas.openxmlformats.org/drawingml/2006/main"/>
          <a:p xmlns:a="http://schemas.openxmlformats.org/drawingml/2006/main">
            <a:pPr algn="l">
              <a:lnSpc>
                <a:spcPct val="102000"/>
              </a:lnSpc>
              <a:buNone/>
              <a:defRPr sz="1402" b="1">
                <a:solidFill>
                  <a:srgbClr val="003D7C"/>
                </a:solidFill>
                <a:latin typeface="Aptos"/>
                <a:ea typeface="Aptos"/>
                <a:cs typeface="Aptos"/>
              </a:defRPr>
            </a:pPr>
            <a:r>
              <a:rPr sz="1402" b="1">
                <a:solidFill>
                  <a:srgbClr val="003D7C"/>
                </a:solidFill>
                <a:latin typeface="Aptos"/>
                <a:ea typeface="Aptos"/>
                <a:cs typeface="Aptos"/>
              </a:rPr>
              <a:t>SOLUTION</a:t>
            </a:r>
          </a:p>
        </p:txBody>
      </p:sp>
      <p:sp>
        <p:nvSpPr>
          <p:cNvPr id="14" name="solution-copy">
            <a:extLst xmlns:a="http://schemas.openxmlformats.org/drawingml/2006/main">
              <a:ext uri="{FF2B5EF4-FFF2-40B4-BE49-F238E27FC236}">
                <a16:creationId xmlns:a16="http://schemas.microsoft.com/office/drawing/2014/main" id="{AF892A17-4456-46E6-9B34-A9A2BDEDC391}"/>
              </a:ext>
            </a:extLst>
          </p:cNvPr>
          <p:cNvSpPr>
            <a:spLocks xmlns:a="http://schemas.openxmlformats.org/drawingml/2006/main" noGrp="1"/>
          </p:cNvSpPr>
          <p:nvPr/>
        </p:nvSpPr>
        <p:spPr>
          <a:xfrm xmlns:a="http://schemas.openxmlformats.org/drawingml/2006/main">
            <a:off x="3876675" y="2181225"/>
            <a:ext cx="32480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402" b="0">
                <a:solidFill>
                  <a:srgbClr val="142433"/>
                </a:solidFill>
                <a:latin typeface="Aptos"/>
                <a:ea typeface="Aptos"/>
                <a:cs typeface="Aptos"/>
              </a:defRPr>
            </a:pPr>
            <a:r>
              <a:rPr sz="1402" b="0">
                <a:solidFill>
                  <a:srgbClr val="142433"/>
                </a:solidFill>
                <a:latin typeface="Aptos"/>
                <a:ea typeface="Aptos"/>
                <a:cs typeface="Aptos"/>
              </a:rPr>
              <a:t>Camera-free sensing combines low-resolution thermal data, relative light, climate and non-reconstructable sound summaries. Edge processing produces anonymous room features before the backend. The dashboard presents room status, history, short-horizon forecasts and a recommendation workflow.</a:t>
            </a:r>
          </a:p>
        </p:txBody>
      </p:sp>
      <p:sp>
        <p:nvSpPr>
          <p:cNvPr id="15" name="section-PROTOTYPE HARDWARE">
            <a:extLst xmlns:a="http://schemas.openxmlformats.org/drawingml/2006/main">
              <a:ext uri="{FF2B5EF4-FFF2-40B4-BE49-F238E27FC236}">
                <a16:creationId xmlns:a16="http://schemas.microsoft.com/office/drawing/2014/main" id="{A1C97750-8A8A-49D4-BF5F-22A6C38956DE}"/>
              </a:ext>
            </a:extLst>
          </p:cNvPr>
          <p:cNvSpPr>
            <a:spLocks xmlns:a="http://schemas.openxmlformats.org/drawingml/2006/main" noGrp="1"/>
          </p:cNvSpPr>
          <p:nvPr/>
        </p:nvSpPr>
        <p:spPr>
          <a:xfrm xmlns:a="http://schemas.openxmlformats.org/drawingml/2006/main">
            <a:off x="438150" y="3962400"/>
            <a:ext cx="3238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466"/>
          </a:bodyPr>
          <a:lstStyle xmlns:a="http://schemas.openxmlformats.org/drawingml/2006/main"/>
          <a:p xmlns:a="http://schemas.openxmlformats.org/drawingml/2006/main">
            <a:pPr algn="l">
              <a:lnSpc>
                <a:spcPct val="100000"/>
              </a:lnSpc>
              <a:buNone/>
              <a:defRPr sz="1538" b="1">
                <a:solidFill>
                  <a:srgbClr val="003D7C"/>
                </a:solidFill>
                <a:latin typeface="Aptos"/>
                <a:ea typeface="Aptos"/>
                <a:cs typeface="Aptos"/>
              </a:defRPr>
            </a:pPr>
            <a:r>
              <a:rPr sz="1538" b="1">
                <a:solidFill>
                  <a:srgbClr val="003D7C"/>
                </a:solidFill>
                <a:latin typeface="Aptos"/>
                <a:ea typeface="Aptos"/>
                <a:cs typeface="Aptos"/>
              </a:rPr>
              <a:t>PROTOTYPE HARDWARE</a:t>
            </a:r>
          </a:p>
        </p:txBody>
      </p:sp>
      <p:sp>
        <p:nvSpPr>
          <p:cNvPr id="16" name="rule-PROTOTYPE HARDWARE">
            <a:extLst xmlns:a="http://schemas.openxmlformats.org/drawingml/2006/main">
              <a:ext uri="{FF2B5EF4-FFF2-40B4-BE49-F238E27FC236}">
                <a16:creationId xmlns:a16="http://schemas.microsoft.com/office/drawing/2014/main" id="{FAFDA7BA-5D45-4BD1-9868-40F685B891D3}"/>
              </a:ext>
            </a:extLst>
          </p:cNvPr>
          <p:cNvSpPr>
            <a:spLocks xmlns:a="http://schemas.openxmlformats.org/drawingml/2006/main" noGrp="1"/>
          </p:cNvSpPr>
          <p:nvPr/>
        </p:nvSpPr>
        <p:spPr>
          <a:xfrm xmlns:a="http://schemas.openxmlformats.org/drawingml/2006/main">
            <a:off x="438150" y="4191000"/>
            <a:ext cx="3238500" cy="0"/>
          </a:xfrm>
          <a:prstGeom xmlns:a="http://schemas.openxmlformats.org/drawingml/2006/main" prst="line">
            <a:avLst/>
          </a:prstGeom>
          <a:noFill xmlns:a="http://schemas.openxmlformats.org/drawingml/2006/main"/>
          <a:ln xmlns:a="http://schemas.openxmlformats.org/drawingml/2006/main" w="9525">
            <a:solidFill>
              <a:srgbClr val="CAD4DE"/>
            </a:solidFill>
            <a:prstDash val="solid"/>
          </a:ln>
        </p:spPr>
      </p:sp>
      <p:sp>
        <p:nvSpPr>
          <p:cNvPr id="17" name="accent-PROTOTYPE HARDWARE">
            <a:extLst xmlns:a="http://schemas.openxmlformats.org/drawingml/2006/main">
              <a:ext uri="{FF2B5EF4-FFF2-40B4-BE49-F238E27FC236}">
                <a16:creationId xmlns:a16="http://schemas.microsoft.com/office/drawing/2014/main" id="{4480BB16-DFD3-404B-B4BA-0341F2ADC626}"/>
              </a:ext>
            </a:extLst>
          </p:cNvPr>
          <p:cNvSpPr>
            <a:spLocks xmlns:a="http://schemas.openxmlformats.org/drawingml/2006/main" noGrp="1"/>
          </p:cNvSpPr>
          <p:nvPr/>
        </p:nvSpPr>
        <p:spPr>
          <a:xfrm xmlns:a="http://schemas.openxmlformats.org/drawingml/2006/main">
            <a:off x="438150" y="4191000"/>
            <a:ext cx="552450" cy="0"/>
          </a:xfrm>
          <a:prstGeom xmlns:a="http://schemas.openxmlformats.org/drawingml/2006/main" prst="line">
            <a:avLst/>
          </a:prstGeom>
          <a:noFill xmlns:a="http://schemas.openxmlformats.org/drawingml/2006/main"/>
          <a:ln xmlns:a="http://schemas.openxmlformats.org/drawingml/2006/main" w="28575">
            <a:solidFill>
              <a:srgbClr val="EF7C00"/>
            </a:solidFill>
            <a:prstDash val="solid"/>
          </a:ln>
        </p:spPr>
      </p:sp>
      <p:sp>
        <p:nvSpPr>
          <p:cNvPr id="18" name="hardware-photo-placeholder">
            <a:extLst xmlns:a="http://schemas.openxmlformats.org/drawingml/2006/main">
              <a:ext uri="{FF2B5EF4-FFF2-40B4-BE49-F238E27FC236}">
                <a16:creationId xmlns:a16="http://schemas.microsoft.com/office/drawing/2014/main" id="{4FFEE8EF-5BC5-4141-9FCA-E8C626A54DAC}"/>
              </a:ext>
            </a:extLst>
          </p:cNvPr>
          <p:cNvSpPr>
            <a:spLocks xmlns:a="http://schemas.openxmlformats.org/drawingml/2006/main" noGrp="1"/>
          </p:cNvSpPr>
          <p:nvPr/>
        </p:nvSpPr>
        <p:spPr>
          <a:xfrm xmlns:a="http://schemas.openxmlformats.org/drawingml/2006/main">
            <a:off x="438150" y="4267200"/>
            <a:ext cx="3238500" cy="1238250"/>
          </a:xfrm>
          <a:prstGeom xmlns:a="http://schemas.openxmlformats.org/drawingml/2006/main" prst="roundRect">
            <a:avLst>
              <a:gd name="adj" fmla="val 7692"/>
            </a:avLst>
          </a:prstGeom>
          <a:solidFill xmlns:a="http://schemas.openxmlformats.org/drawingml/2006/main">
            <a:srgbClr val="EEF1F3"/>
          </a:solidFill>
          <a:ln xmlns:a="http://schemas.openxmlformats.org/drawingml/2006/main" w="13335">
            <a:solidFill>
              <a:srgbClr val="EF7C00"/>
            </a:solidFill>
            <a:prstDash val="dash"/>
          </a:ln>
        </p:spPr>
      </p:sp>
      <p:sp>
        <p:nvSpPr>
          <p:cNvPr id="19" name="hardware-placeholder-label">
            <a:extLst xmlns:a="http://schemas.openxmlformats.org/drawingml/2006/main">
              <a:ext uri="{FF2B5EF4-FFF2-40B4-BE49-F238E27FC236}">
                <a16:creationId xmlns:a16="http://schemas.microsoft.com/office/drawing/2014/main" id="{AE3DF91A-F848-49A4-A173-D00333FBA06E}"/>
              </a:ext>
            </a:extLst>
          </p:cNvPr>
          <p:cNvSpPr>
            <a:spLocks xmlns:a="http://schemas.openxmlformats.org/drawingml/2006/main" noGrp="1"/>
          </p:cNvSpPr>
          <p:nvPr/>
        </p:nvSpPr>
        <p:spPr>
          <a:xfrm xmlns:a="http://schemas.openxmlformats.org/drawingml/2006/main">
            <a:off x="571500" y="4476750"/>
            <a:ext cx="1381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8849"/>
          </a:bodyPr>
          <a:lstStyle xmlns:a="http://schemas.openxmlformats.org/drawingml/2006/main"/>
          <a:p xmlns:a="http://schemas.openxmlformats.org/drawingml/2006/main">
            <a:pPr algn="ctr">
              <a:lnSpc>
                <a:spcPct val="95000"/>
              </a:lnSpc>
              <a:buNone/>
              <a:defRPr sz="1402" b="1">
                <a:solidFill>
                  <a:srgbClr val="526477"/>
                </a:solidFill>
                <a:latin typeface="Aptos"/>
                <a:ea typeface="Aptos"/>
                <a:cs typeface="Aptos"/>
              </a:defRPr>
            </a:pPr>
            <a:r>
              <a:rPr sz="1402" b="1">
                <a:solidFill>
                  <a:srgbClr val="526477"/>
                </a:solidFill>
                <a:latin typeface="Aptos"/>
                <a:ea typeface="Aptos"/>
                <a:cs typeface="Aptos"/>
              </a:rPr>
              <a:t>HARDWARE PANORAMA</a:t>
            </a:r>
          </a:p>
          <a:p xmlns:a="http://schemas.openxmlformats.org/drawingml/2006/main">
            <a:pPr algn="ctr">
              <a:lnSpc>
                <a:spcPct val="95000"/>
              </a:lnSpc>
              <a:buNone/>
              <a:defRPr sz="1402" b="1">
                <a:solidFill>
                  <a:srgbClr val="526477"/>
                </a:solidFill>
                <a:latin typeface="Aptos"/>
                <a:ea typeface="Aptos"/>
                <a:cs typeface="Aptos"/>
              </a:defRPr>
            </a:pPr>
            <a:r>
              <a:rPr sz="1402" b="1">
                <a:solidFill>
                  <a:srgbClr val="526477"/>
                </a:solidFill>
                <a:latin typeface="Aptos"/>
                <a:ea typeface="Aptos"/>
                <a:cs typeface="Aptos"/>
              </a:rPr>
              <a:t>[HARDWARE_PHOTO]</a:t>
            </a:r>
          </a:p>
        </p:txBody>
      </p:sp>
      <p:sp>
        <p:nvSpPr>
          <p:cNvPr id="20" name="hardware-placeholder-divider">
            <a:extLst xmlns:a="http://schemas.openxmlformats.org/drawingml/2006/main">
              <a:ext uri="{FF2B5EF4-FFF2-40B4-BE49-F238E27FC236}">
                <a16:creationId xmlns:a16="http://schemas.microsoft.com/office/drawing/2014/main" id="{75C9E66C-D674-4997-AA79-D51DBFD6B5D9}"/>
              </a:ext>
            </a:extLst>
          </p:cNvPr>
          <p:cNvSpPr>
            <a:spLocks xmlns:a="http://schemas.openxmlformats.org/drawingml/2006/main" noGrp="1"/>
          </p:cNvSpPr>
          <p:nvPr/>
        </p:nvSpPr>
        <p:spPr>
          <a:xfrm xmlns:a="http://schemas.openxmlformats.org/drawingml/2006/main">
            <a:off x="2057400" y="4371975"/>
            <a:ext cx="0" cy="1028700"/>
          </a:xfrm>
          <a:prstGeom xmlns:a="http://schemas.openxmlformats.org/drawingml/2006/main" prst="line">
            <a:avLst/>
          </a:prstGeom>
          <a:noFill xmlns:a="http://schemas.openxmlformats.org/drawingml/2006/main"/>
          <a:ln xmlns:a="http://schemas.openxmlformats.org/drawingml/2006/main" w="9525">
            <a:solidFill>
              <a:srgbClr val="CAD4DE"/>
            </a:solidFill>
            <a:prstDash val="solid"/>
          </a:ln>
        </p:spPr>
      </p:sp>
      <p:sp>
        <p:nvSpPr>
          <p:cNvPr id="21" name="hardware-components">
            <a:extLst xmlns:a="http://schemas.openxmlformats.org/drawingml/2006/main">
              <a:ext uri="{FF2B5EF4-FFF2-40B4-BE49-F238E27FC236}">
                <a16:creationId xmlns:a16="http://schemas.microsoft.com/office/drawing/2014/main" id="{1ECB21D0-E742-4403-8AA4-36B7928BF998}"/>
              </a:ext>
            </a:extLst>
          </p:cNvPr>
          <p:cNvSpPr>
            <a:spLocks xmlns:a="http://schemas.openxmlformats.org/drawingml/2006/main" noGrp="1"/>
          </p:cNvSpPr>
          <p:nvPr/>
        </p:nvSpPr>
        <p:spPr>
          <a:xfrm xmlns:a="http://schemas.openxmlformats.org/drawingml/2006/main">
            <a:off x="2200275" y="4362450"/>
            <a:ext cx="1352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0645"/>
          </a:bodyPr>
          <a:lstStyle xmlns:a="http://schemas.openxmlformats.org/drawingml/2006/main"/>
          <a:p xmlns:a="http://schemas.openxmlformats.org/drawingml/2006/main">
            <a:pPr marL="16" indent="-10" algn="l">
              <a:lnSpc>
                <a:spcPct val="100000"/>
              </a:lnSpc>
              <a:spcAft>
                <a:spcPts val="2"/>
              </a:spcAft>
              <a:buNone/>
              <a:defRPr sz="1215" b="0">
                <a:solidFill>
                  <a:srgbClr val="142433"/>
                </a:solidFill>
                <a:latin typeface="Aptos"/>
                <a:ea typeface="Aptos"/>
                <a:cs typeface="Aptos"/>
              </a:defRPr>
            </a:pPr>
            <a:r>
              <a:rPr sz="1215" b="0">
                <a:solidFill>
                  <a:srgbClr val="142433"/>
                </a:solidFill>
                <a:latin typeface="Aptos"/>
                <a:ea typeface="Aptos"/>
                <a:cs typeface="Aptos"/>
              </a:rPr>
              <a:t>MLX90640 32×24 array</a:t>
            </a:r>
          </a:p>
          <a:p xmlns:a="http://schemas.openxmlformats.org/drawingml/2006/main">
            <a:pPr marL="16" indent="-10" algn="l">
              <a:lnSpc>
                <a:spcPct val="100000"/>
              </a:lnSpc>
              <a:spcAft>
                <a:spcPts val="2"/>
              </a:spcAft>
              <a:buNone/>
              <a:defRPr sz="1215" b="0">
                <a:solidFill>
                  <a:srgbClr val="142433"/>
                </a:solidFill>
                <a:latin typeface="Aptos"/>
                <a:ea typeface="Aptos"/>
                <a:cs typeface="Aptos"/>
              </a:defRPr>
            </a:pPr>
            <a:r>
              <a:rPr sz="1215" b="0">
                <a:solidFill>
                  <a:srgbClr val="142433"/>
                </a:solidFill>
                <a:latin typeface="Aptos"/>
                <a:ea typeface="Aptos"/>
                <a:cs typeface="Aptos"/>
              </a:rPr>
              <a:t>HW-486 relative light</a:t>
            </a:r>
          </a:p>
          <a:p xmlns:a="http://schemas.openxmlformats.org/drawingml/2006/main">
            <a:pPr marL="16" indent="-10" algn="l">
              <a:lnSpc>
                <a:spcPct val="100000"/>
              </a:lnSpc>
              <a:spcAft>
                <a:spcPts val="2"/>
              </a:spcAft>
              <a:buNone/>
              <a:defRPr sz="1215" b="0">
                <a:solidFill>
                  <a:srgbClr val="142433"/>
                </a:solidFill>
                <a:latin typeface="Aptos"/>
                <a:ea typeface="Aptos"/>
                <a:cs typeface="Aptos"/>
              </a:defRPr>
            </a:pPr>
            <a:r>
              <a:rPr sz="1215" b="0">
                <a:solidFill>
                  <a:srgbClr val="142433"/>
                </a:solidFill>
                <a:latin typeface="Aptos"/>
                <a:ea typeface="Aptos"/>
                <a:cs typeface="Aptos"/>
              </a:rPr>
              <a:t>DHT11 temperature / RH</a:t>
            </a:r>
          </a:p>
          <a:p xmlns:a="http://schemas.openxmlformats.org/drawingml/2006/main">
            <a:pPr marL="16" indent="-10" algn="l">
              <a:lnSpc>
                <a:spcPct val="100000"/>
              </a:lnSpc>
              <a:spcAft>
                <a:spcPts val="2"/>
              </a:spcAft>
              <a:buNone/>
              <a:defRPr sz="1215" b="0">
                <a:solidFill>
                  <a:srgbClr val="142433"/>
                </a:solidFill>
                <a:latin typeface="Aptos"/>
                <a:ea typeface="Aptos"/>
                <a:cs typeface="Aptos"/>
              </a:defRPr>
            </a:pPr>
            <a:r>
              <a:rPr sz="1215" b="0">
                <a:solidFill>
                  <a:srgbClr val="142433"/>
                </a:solidFill>
                <a:latin typeface="Aptos"/>
                <a:ea typeface="Aptos"/>
                <a:cs typeface="Aptos"/>
              </a:rPr>
              <a:t>ESP32 sensor hub</a:t>
            </a:r>
          </a:p>
          <a:p xmlns:a="http://schemas.openxmlformats.org/drawingml/2006/main">
            <a:pPr marL="16" indent="-10" algn="l">
              <a:lnSpc>
                <a:spcPct val="100000"/>
              </a:lnSpc>
              <a:spcAft>
                <a:spcPts val="2"/>
              </a:spcAft>
              <a:buNone/>
              <a:defRPr sz="1215" b="0">
                <a:solidFill>
                  <a:srgbClr val="142433"/>
                </a:solidFill>
                <a:latin typeface="Aptos"/>
                <a:ea typeface="Aptos"/>
                <a:cs typeface="Aptos"/>
              </a:defRPr>
            </a:pPr>
            <a:r>
              <a:rPr sz="1215" b="0">
                <a:solidFill>
                  <a:srgbClr val="142433"/>
                </a:solidFill>
                <a:latin typeface="Aptos"/>
                <a:ea typeface="Aptos"/>
                <a:cs typeface="Aptos"/>
              </a:rPr>
              <a:t>Raspberry Pi 5</a:t>
            </a:r>
          </a:p>
          <a:p xmlns:a="http://schemas.openxmlformats.org/drawingml/2006/main">
            <a:pPr marL="16" indent="-10" algn="l">
              <a:lnSpc>
                <a:spcPct val="100000"/>
              </a:lnSpc>
              <a:spcAft>
                <a:spcPts val="2"/>
              </a:spcAft>
              <a:buNone/>
              <a:defRPr sz="1215" b="0">
                <a:solidFill>
                  <a:srgbClr val="142433"/>
                </a:solidFill>
                <a:latin typeface="Aptos"/>
                <a:ea typeface="Aptos"/>
                <a:cs typeface="Aptos"/>
              </a:defRPr>
            </a:pPr>
            <a:r>
              <a:rPr sz="1215" b="0">
                <a:solidFill>
                  <a:srgbClr val="142433"/>
                </a:solidFill>
                <a:latin typeface="Aptos"/>
                <a:ea typeface="Aptos"/>
                <a:cs typeface="Aptos"/>
              </a:rPr>
              <a:t>Laptop microphone — local RMS/std/peak summaries only</a:t>
            </a:r>
          </a:p>
        </p:txBody>
      </p:sp>
      <p:sp>
        <p:nvSpPr>
          <p:cNvPr id="22" name="section-PRIVACY BY DESIGN">
            <a:extLst xmlns:a="http://schemas.openxmlformats.org/drawingml/2006/main">
              <a:ext uri="{FF2B5EF4-FFF2-40B4-BE49-F238E27FC236}">
                <a16:creationId xmlns:a16="http://schemas.microsoft.com/office/drawing/2014/main" id="{C08D42D4-554F-4A98-8DB4-675AEC473197}"/>
              </a:ext>
            </a:extLst>
          </p:cNvPr>
          <p:cNvSpPr>
            <a:spLocks xmlns:a="http://schemas.openxmlformats.org/drawingml/2006/main" noGrp="1"/>
          </p:cNvSpPr>
          <p:nvPr/>
        </p:nvSpPr>
        <p:spPr>
          <a:xfrm xmlns:a="http://schemas.openxmlformats.org/drawingml/2006/main">
            <a:off x="3867150" y="3962400"/>
            <a:ext cx="32575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466"/>
          </a:bodyPr>
          <a:lstStyle xmlns:a="http://schemas.openxmlformats.org/drawingml/2006/main"/>
          <a:p xmlns:a="http://schemas.openxmlformats.org/drawingml/2006/main">
            <a:pPr algn="l">
              <a:lnSpc>
                <a:spcPct val="100000"/>
              </a:lnSpc>
              <a:buNone/>
              <a:defRPr sz="1538" b="1">
                <a:solidFill>
                  <a:srgbClr val="003D7C"/>
                </a:solidFill>
                <a:latin typeface="Aptos"/>
                <a:ea typeface="Aptos"/>
                <a:cs typeface="Aptos"/>
              </a:defRPr>
            </a:pPr>
            <a:r>
              <a:rPr sz="1538" b="1">
                <a:solidFill>
                  <a:srgbClr val="003D7C"/>
                </a:solidFill>
                <a:latin typeface="Aptos"/>
                <a:ea typeface="Aptos"/>
                <a:cs typeface="Aptos"/>
              </a:rPr>
              <a:t>PRIVACY BY DESIGN</a:t>
            </a:r>
          </a:p>
        </p:txBody>
      </p:sp>
      <p:sp>
        <p:nvSpPr>
          <p:cNvPr id="23" name="rule-PRIVACY BY DESIGN">
            <a:extLst xmlns:a="http://schemas.openxmlformats.org/drawingml/2006/main">
              <a:ext uri="{FF2B5EF4-FFF2-40B4-BE49-F238E27FC236}">
                <a16:creationId xmlns:a16="http://schemas.microsoft.com/office/drawing/2014/main" id="{8EF3B785-8A04-4818-9A8E-560B184540EF}"/>
              </a:ext>
            </a:extLst>
          </p:cNvPr>
          <p:cNvSpPr>
            <a:spLocks xmlns:a="http://schemas.openxmlformats.org/drawingml/2006/main" noGrp="1"/>
          </p:cNvSpPr>
          <p:nvPr/>
        </p:nvSpPr>
        <p:spPr>
          <a:xfrm xmlns:a="http://schemas.openxmlformats.org/drawingml/2006/main">
            <a:off x="3867150" y="4191000"/>
            <a:ext cx="3257550" cy="0"/>
          </a:xfrm>
          <a:prstGeom xmlns:a="http://schemas.openxmlformats.org/drawingml/2006/main" prst="line">
            <a:avLst/>
          </a:prstGeom>
          <a:noFill xmlns:a="http://schemas.openxmlformats.org/drawingml/2006/main"/>
          <a:ln xmlns:a="http://schemas.openxmlformats.org/drawingml/2006/main" w="9525">
            <a:solidFill>
              <a:srgbClr val="CAD4DE"/>
            </a:solidFill>
            <a:prstDash val="solid"/>
          </a:ln>
        </p:spPr>
      </p:sp>
      <p:sp>
        <p:nvSpPr>
          <p:cNvPr id="24" name="accent-PRIVACY BY DESIGN">
            <a:extLst xmlns:a="http://schemas.openxmlformats.org/drawingml/2006/main">
              <a:ext uri="{FF2B5EF4-FFF2-40B4-BE49-F238E27FC236}">
                <a16:creationId xmlns:a16="http://schemas.microsoft.com/office/drawing/2014/main" id="{FC979227-67D3-4D47-AF4B-DC72B9B13910}"/>
              </a:ext>
            </a:extLst>
          </p:cNvPr>
          <p:cNvSpPr>
            <a:spLocks xmlns:a="http://schemas.openxmlformats.org/drawingml/2006/main" noGrp="1"/>
          </p:cNvSpPr>
          <p:nvPr/>
        </p:nvSpPr>
        <p:spPr>
          <a:xfrm xmlns:a="http://schemas.openxmlformats.org/drawingml/2006/main">
            <a:off x="3867150" y="4191000"/>
            <a:ext cx="552450" cy="0"/>
          </a:xfrm>
          <a:prstGeom xmlns:a="http://schemas.openxmlformats.org/drawingml/2006/main" prst="line">
            <a:avLst/>
          </a:prstGeom>
          <a:noFill xmlns:a="http://schemas.openxmlformats.org/drawingml/2006/main"/>
          <a:ln xmlns:a="http://schemas.openxmlformats.org/drawingml/2006/main" w="28575">
            <a:solidFill>
              <a:srgbClr val="EF7C00"/>
            </a:solidFill>
            <a:prstDash val="solid"/>
          </a:ln>
        </p:spPr>
      </p:sp>
      <p:sp>
        <p:nvSpPr>
          <p:cNvPr id="25" name="privacy-panel">
            <a:extLst xmlns:a="http://schemas.openxmlformats.org/drawingml/2006/main">
              <a:ext uri="{FF2B5EF4-FFF2-40B4-BE49-F238E27FC236}">
                <a16:creationId xmlns:a16="http://schemas.microsoft.com/office/drawing/2014/main" id="{260042A4-3C6D-41E8-A1BC-DB4B29D5C281}"/>
              </a:ext>
            </a:extLst>
          </p:cNvPr>
          <p:cNvSpPr>
            <a:spLocks xmlns:a="http://schemas.openxmlformats.org/drawingml/2006/main" noGrp="1"/>
          </p:cNvSpPr>
          <p:nvPr/>
        </p:nvSpPr>
        <p:spPr>
          <a:xfrm xmlns:a="http://schemas.openxmlformats.org/drawingml/2006/main">
            <a:off x="3867150" y="4267200"/>
            <a:ext cx="3257550" cy="1238250"/>
          </a:xfrm>
          <a:prstGeom xmlns:a="http://schemas.openxmlformats.org/drawingml/2006/main" prst="roundRect">
            <a:avLst>
              <a:gd name="adj" fmla="val 7692"/>
            </a:avLst>
          </a:prstGeom>
          <a:solidFill xmlns:a="http://schemas.openxmlformats.org/drawingml/2006/main">
            <a:srgbClr val="003D7C"/>
          </a:solidFill>
          <a:ln xmlns:a="http://schemas.openxmlformats.org/drawingml/2006/main" w="9525">
            <a:solidFill>
              <a:srgbClr val="003D7C"/>
            </a:solidFill>
            <a:prstDash val="solid"/>
          </a:ln>
        </p:spPr>
      </p:sp>
      <p:sp>
        <p:nvSpPr>
          <p:cNvPr id="26" name="privacy-bullets">
            <a:extLst xmlns:a="http://schemas.openxmlformats.org/drawingml/2006/main">
              <a:ext uri="{FF2B5EF4-FFF2-40B4-BE49-F238E27FC236}">
                <a16:creationId xmlns:a16="http://schemas.microsoft.com/office/drawing/2014/main" id="{C09657C1-5212-4ED7-B5E2-64C8B09CF225}"/>
              </a:ext>
            </a:extLst>
          </p:cNvPr>
          <p:cNvSpPr>
            <a:spLocks xmlns:a="http://schemas.openxmlformats.org/drawingml/2006/main" noGrp="1"/>
          </p:cNvSpPr>
          <p:nvPr/>
        </p:nvSpPr>
        <p:spPr>
          <a:xfrm xmlns:a="http://schemas.openxmlformats.org/drawingml/2006/main">
            <a:off x="4010025" y="4410075"/>
            <a:ext cx="29813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870"/>
          </a:bodyPr>
          <a:lstStyle xmlns:a="http://schemas.openxmlformats.org/drawingml/2006/main"/>
          <a:p xmlns:a="http://schemas.openxmlformats.org/drawingml/2006/main">
            <a:pPr marL="16" indent="-10" algn="l">
              <a:lnSpc>
                <a:spcPct val="100000"/>
              </a:lnSpc>
              <a:spcAft>
                <a:spcPts val="2"/>
              </a:spcAft>
              <a:buNone/>
              <a:defRPr sz="1402" b="0">
                <a:solidFill>
                  <a:srgbClr val="FFFFFF"/>
                </a:solidFill>
                <a:latin typeface="Aptos"/>
                <a:ea typeface="Aptos"/>
                <a:cs typeface="Aptos"/>
              </a:defRPr>
            </a:pPr>
            <a:r>
              <a:rPr sz="1402" b="0">
                <a:solidFill>
                  <a:srgbClr val="FFFFFF"/>
                </a:solidFill>
                <a:latin typeface="Aptos"/>
                <a:ea typeface="Aptos"/>
                <a:cs typeface="Aptos"/>
              </a:rPr>
              <a:t>No RGB cameras or facial recognition</a:t>
            </a:r>
          </a:p>
          <a:p xmlns:a="http://schemas.openxmlformats.org/drawingml/2006/main">
            <a:pPr marL="16" indent="-10" algn="l">
              <a:lnSpc>
                <a:spcPct val="100000"/>
              </a:lnSpc>
              <a:spcAft>
                <a:spcPts val="2"/>
              </a:spcAft>
              <a:buNone/>
              <a:defRPr sz="1402" b="0">
                <a:solidFill>
                  <a:srgbClr val="FFFFFF"/>
                </a:solidFill>
                <a:latin typeface="Aptos"/>
                <a:ea typeface="Aptos"/>
                <a:cs typeface="Aptos"/>
              </a:defRPr>
            </a:pPr>
            <a:r>
              <a:rPr sz="1402" b="0">
                <a:solidFill>
                  <a:srgbClr val="FFFFFF"/>
                </a:solidFill>
                <a:latin typeface="Aptos"/>
                <a:ea typeface="Aptos"/>
                <a:cs typeface="Aptos"/>
              </a:rPr>
              <a:t>No raw audio storage or upload</a:t>
            </a:r>
          </a:p>
          <a:p xmlns:a="http://schemas.openxmlformats.org/drawingml/2006/main">
            <a:pPr marL="16" indent="-10" algn="l">
              <a:lnSpc>
                <a:spcPct val="100000"/>
              </a:lnSpc>
              <a:spcAft>
                <a:spcPts val="2"/>
              </a:spcAft>
              <a:buNone/>
              <a:defRPr sz="1402" b="0">
                <a:solidFill>
                  <a:srgbClr val="FFFFFF"/>
                </a:solidFill>
                <a:latin typeface="Aptos"/>
                <a:ea typeface="Aptos"/>
                <a:cs typeface="Aptos"/>
              </a:defRPr>
            </a:pPr>
            <a:r>
              <a:rPr sz="1402" b="0">
                <a:solidFill>
                  <a:srgbClr val="FFFFFF"/>
                </a:solidFill>
                <a:latin typeface="Aptos"/>
                <a:ea typeface="Aptos"/>
                <a:cs typeface="Aptos"/>
              </a:rPr>
              <a:t>No identity or trajectory tracking</a:t>
            </a:r>
          </a:p>
          <a:p xmlns:a="http://schemas.openxmlformats.org/drawingml/2006/main">
            <a:pPr marL="16" indent="-10" algn="l">
              <a:lnSpc>
                <a:spcPct val="100000"/>
              </a:lnSpc>
              <a:spcAft>
                <a:spcPts val="2"/>
              </a:spcAft>
              <a:buNone/>
              <a:defRPr sz="1402" b="0">
                <a:solidFill>
                  <a:srgbClr val="FFFFFF"/>
                </a:solidFill>
                <a:latin typeface="Aptos"/>
                <a:ea typeface="Aptos"/>
                <a:cs typeface="Aptos"/>
              </a:defRPr>
            </a:pPr>
            <a:r>
              <a:rPr sz="1402" b="0">
                <a:solidFill>
                  <a:srgbClr val="FFFFFF"/>
                </a:solidFill>
                <a:latin typeface="Aptos"/>
                <a:ea typeface="Aptos"/>
                <a:cs typeface="Aptos"/>
              </a:rPr>
              <a:t>Thermal previews expire and are not persisted</a:t>
            </a:r>
          </a:p>
        </p:txBody>
      </p:sp>
      <p:sp>
        <p:nvSpPr>
          <p:cNvPr id="27" name="section-SYSTEM ARCHITECTURE">
            <a:extLst xmlns:a="http://schemas.openxmlformats.org/drawingml/2006/main">
              <a:ext uri="{FF2B5EF4-FFF2-40B4-BE49-F238E27FC236}">
                <a16:creationId xmlns:a16="http://schemas.microsoft.com/office/drawing/2014/main" id="{63B230E7-256A-44E0-A6B9-3BF9B1B2524F}"/>
              </a:ext>
            </a:extLst>
          </p:cNvPr>
          <p:cNvSpPr>
            <a:spLocks xmlns:a="http://schemas.openxmlformats.org/drawingml/2006/main" noGrp="1"/>
          </p:cNvSpPr>
          <p:nvPr/>
        </p:nvSpPr>
        <p:spPr>
          <a:xfrm xmlns:a="http://schemas.openxmlformats.org/drawingml/2006/main">
            <a:off x="438150" y="5619750"/>
            <a:ext cx="66865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466"/>
          </a:bodyPr>
          <a:lstStyle xmlns:a="http://schemas.openxmlformats.org/drawingml/2006/main"/>
          <a:p xmlns:a="http://schemas.openxmlformats.org/drawingml/2006/main">
            <a:pPr algn="l">
              <a:lnSpc>
                <a:spcPct val="100000"/>
              </a:lnSpc>
              <a:buNone/>
              <a:defRPr sz="1538" b="1">
                <a:solidFill>
                  <a:srgbClr val="003D7C"/>
                </a:solidFill>
                <a:latin typeface="Aptos"/>
                <a:ea typeface="Aptos"/>
                <a:cs typeface="Aptos"/>
              </a:defRPr>
            </a:pPr>
            <a:r>
              <a:rPr sz="1538" b="1">
                <a:solidFill>
                  <a:srgbClr val="003D7C"/>
                </a:solidFill>
                <a:latin typeface="Aptos"/>
                <a:ea typeface="Aptos"/>
                <a:cs typeface="Aptos"/>
              </a:rPr>
              <a:t>SYSTEM ARCHITECTURE</a:t>
            </a:r>
          </a:p>
        </p:txBody>
      </p:sp>
      <p:sp>
        <p:nvSpPr>
          <p:cNvPr id="28" name="rule-SYSTEM ARCHITECTURE">
            <a:extLst xmlns:a="http://schemas.openxmlformats.org/drawingml/2006/main">
              <a:ext uri="{FF2B5EF4-FFF2-40B4-BE49-F238E27FC236}">
                <a16:creationId xmlns:a16="http://schemas.microsoft.com/office/drawing/2014/main" id="{0E96134F-ADAD-44C8-A2E4-B4A02864033D}"/>
              </a:ext>
            </a:extLst>
          </p:cNvPr>
          <p:cNvSpPr>
            <a:spLocks xmlns:a="http://schemas.openxmlformats.org/drawingml/2006/main" noGrp="1"/>
          </p:cNvSpPr>
          <p:nvPr/>
        </p:nvSpPr>
        <p:spPr>
          <a:xfrm xmlns:a="http://schemas.openxmlformats.org/drawingml/2006/main">
            <a:off x="438150" y="5848350"/>
            <a:ext cx="6686550" cy="0"/>
          </a:xfrm>
          <a:prstGeom xmlns:a="http://schemas.openxmlformats.org/drawingml/2006/main" prst="line">
            <a:avLst/>
          </a:prstGeom>
          <a:noFill xmlns:a="http://schemas.openxmlformats.org/drawingml/2006/main"/>
          <a:ln xmlns:a="http://schemas.openxmlformats.org/drawingml/2006/main" w="9525">
            <a:solidFill>
              <a:srgbClr val="CAD4DE"/>
            </a:solidFill>
            <a:prstDash val="solid"/>
          </a:ln>
        </p:spPr>
      </p:sp>
      <p:sp>
        <p:nvSpPr>
          <p:cNvPr id="29" name="accent-SYSTEM ARCHITECTURE">
            <a:extLst xmlns:a="http://schemas.openxmlformats.org/drawingml/2006/main">
              <a:ext uri="{FF2B5EF4-FFF2-40B4-BE49-F238E27FC236}">
                <a16:creationId xmlns:a16="http://schemas.microsoft.com/office/drawing/2014/main" id="{7F84A456-9042-4DEB-93F0-69DEB4677905}"/>
              </a:ext>
            </a:extLst>
          </p:cNvPr>
          <p:cNvSpPr>
            <a:spLocks xmlns:a="http://schemas.openxmlformats.org/drawingml/2006/main" noGrp="1"/>
          </p:cNvSpPr>
          <p:nvPr/>
        </p:nvSpPr>
        <p:spPr>
          <a:xfrm xmlns:a="http://schemas.openxmlformats.org/drawingml/2006/main">
            <a:off x="438150" y="5848350"/>
            <a:ext cx="552450" cy="0"/>
          </a:xfrm>
          <a:prstGeom xmlns:a="http://schemas.openxmlformats.org/drawingml/2006/main" prst="line">
            <a:avLst/>
          </a:prstGeom>
          <a:noFill xmlns:a="http://schemas.openxmlformats.org/drawingml/2006/main"/>
          <a:ln xmlns:a="http://schemas.openxmlformats.org/drawingml/2006/main" w="28575">
            <a:solidFill>
              <a:srgbClr val="EF7C00"/>
            </a:solidFill>
            <a:prstDash val="solid"/>
          </a:ln>
        </p:spPr>
      </p:sp>
      <p:sp>
        <p:nvSpPr>
          <p:cNvPr id="30" name="anchor-sensors">
            <a:extLst xmlns:a="http://schemas.openxmlformats.org/drawingml/2006/main">
              <a:ext uri="{FF2B5EF4-FFF2-40B4-BE49-F238E27FC236}">
                <a16:creationId xmlns:a16="http://schemas.microsoft.com/office/drawing/2014/main" id="{C2E56173-DD31-4BC6-9ECD-2A2CFA3387D4}"/>
              </a:ext>
            </a:extLst>
          </p:cNvPr>
          <p:cNvSpPr>
            <a:spLocks xmlns:a="http://schemas.openxmlformats.org/drawingml/2006/main" noGrp="1"/>
          </p:cNvSpPr>
          <p:nvPr/>
        </p:nvSpPr>
        <p:spPr>
          <a:xfrm xmlns:a="http://schemas.openxmlformats.org/drawingml/2006/main">
            <a:off x="438150" y="5943600"/>
            <a:ext cx="1047750" cy="428625"/>
          </a:xfrm>
          <a:prstGeom xmlns:a="http://schemas.openxmlformats.org/drawingml/2006/main" prst="rect">
            <a:avLst/>
          </a:prstGeom>
          <a:noFill xmlns:a="http://schemas.openxmlformats.org/drawingml/2006/main"/>
          <a:ln xmlns:a="http://schemas.openxmlformats.org/drawingml/2006/main" w="0">
            <a:noFill/>
            <a:prstDash val="solid"/>
          </a:ln>
        </p:spPr>
      </p:sp>
      <p:sp>
        <p:nvSpPr>
          <p:cNvPr id="31" name="anchor-mic">
            <a:extLst xmlns:a="http://schemas.openxmlformats.org/drawingml/2006/main">
              <a:ext uri="{FF2B5EF4-FFF2-40B4-BE49-F238E27FC236}">
                <a16:creationId xmlns:a16="http://schemas.microsoft.com/office/drawing/2014/main" id="{7AAC9453-8F58-43CE-859C-A06ACF145086}"/>
              </a:ext>
            </a:extLst>
          </p:cNvPr>
          <p:cNvSpPr>
            <a:spLocks xmlns:a="http://schemas.openxmlformats.org/drawingml/2006/main" noGrp="1"/>
          </p:cNvSpPr>
          <p:nvPr/>
        </p:nvSpPr>
        <p:spPr>
          <a:xfrm xmlns:a="http://schemas.openxmlformats.org/drawingml/2006/main">
            <a:off x="438150" y="6457950"/>
            <a:ext cx="1047750" cy="381000"/>
          </a:xfrm>
          <a:prstGeom xmlns:a="http://schemas.openxmlformats.org/drawingml/2006/main" prst="rect">
            <a:avLst/>
          </a:prstGeom>
          <a:noFill xmlns:a="http://schemas.openxmlformats.org/drawingml/2006/main"/>
          <a:ln xmlns:a="http://schemas.openxmlformats.org/drawingml/2006/main" w="0">
            <a:noFill/>
            <a:prstDash val="solid"/>
          </a:ln>
        </p:spPr>
      </p:sp>
      <p:sp>
        <p:nvSpPr>
          <p:cNvPr id="32" name="anchor-esp32">
            <a:extLst xmlns:a="http://schemas.openxmlformats.org/drawingml/2006/main">
              <a:ext uri="{FF2B5EF4-FFF2-40B4-BE49-F238E27FC236}">
                <a16:creationId xmlns:a16="http://schemas.microsoft.com/office/drawing/2014/main" id="{CEDC6FF6-BAAC-4E52-8389-FC78B2E98ED7}"/>
              </a:ext>
            </a:extLst>
          </p:cNvPr>
          <p:cNvSpPr>
            <a:spLocks xmlns:a="http://schemas.openxmlformats.org/drawingml/2006/main" noGrp="1"/>
          </p:cNvSpPr>
          <p:nvPr/>
        </p:nvSpPr>
        <p:spPr>
          <a:xfrm xmlns:a="http://schemas.openxmlformats.org/drawingml/2006/main">
            <a:off x="1600200" y="5943600"/>
            <a:ext cx="904875" cy="428625"/>
          </a:xfrm>
          <a:prstGeom xmlns:a="http://schemas.openxmlformats.org/drawingml/2006/main" prst="rect">
            <a:avLst/>
          </a:prstGeom>
          <a:noFill xmlns:a="http://schemas.openxmlformats.org/drawingml/2006/main"/>
          <a:ln xmlns:a="http://schemas.openxmlformats.org/drawingml/2006/main" w="0">
            <a:noFill/>
            <a:prstDash val="solid"/>
          </a:ln>
        </p:spPr>
      </p:sp>
      <p:sp>
        <p:nvSpPr>
          <p:cNvPr id="33" name="anchor-agent">
            <a:extLst xmlns:a="http://schemas.openxmlformats.org/drawingml/2006/main">
              <a:ext uri="{FF2B5EF4-FFF2-40B4-BE49-F238E27FC236}">
                <a16:creationId xmlns:a16="http://schemas.microsoft.com/office/drawing/2014/main" id="{D4AFD819-03AE-4EC4-96E7-7705D9888707}"/>
              </a:ext>
            </a:extLst>
          </p:cNvPr>
          <p:cNvSpPr>
            <a:spLocks xmlns:a="http://schemas.openxmlformats.org/drawingml/2006/main" noGrp="1"/>
          </p:cNvSpPr>
          <p:nvPr/>
        </p:nvSpPr>
        <p:spPr>
          <a:xfrm xmlns:a="http://schemas.openxmlformats.org/drawingml/2006/main">
            <a:off x="1600200" y="6457950"/>
            <a:ext cx="904875" cy="381000"/>
          </a:xfrm>
          <a:prstGeom xmlns:a="http://schemas.openxmlformats.org/drawingml/2006/main" prst="rect">
            <a:avLst/>
          </a:prstGeom>
          <a:noFill xmlns:a="http://schemas.openxmlformats.org/drawingml/2006/main"/>
          <a:ln xmlns:a="http://schemas.openxmlformats.org/drawingml/2006/main" w="0">
            <a:noFill/>
            <a:prstDash val="solid"/>
          </a:ln>
        </p:spPr>
      </p:sp>
      <p:sp>
        <p:nvSpPr>
          <p:cNvPr id="34" name="anchor-pi">
            <a:extLst xmlns:a="http://schemas.openxmlformats.org/drawingml/2006/main">
              <a:ext uri="{FF2B5EF4-FFF2-40B4-BE49-F238E27FC236}">
                <a16:creationId xmlns:a16="http://schemas.microsoft.com/office/drawing/2014/main" id="{361DE57C-229C-40F7-9D65-52FD074CDFF1}"/>
              </a:ext>
            </a:extLst>
          </p:cNvPr>
          <p:cNvSpPr>
            <a:spLocks xmlns:a="http://schemas.openxmlformats.org/drawingml/2006/main" noGrp="1"/>
          </p:cNvSpPr>
          <p:nvPr/>
        </p:nvSpPr>
        <p:spPr>
          <a:xfrm xmlns:a="http://schemas.openxmlformats.org/drawingml/2006/main">
            <a:off x="2619375" y="6162675"/>
            <a:ext cx="1000125" cy="571500"/>
          </a:xfrm>
          <a:prstGeom xmlns:a="http://schemas.openxmlformats.org/drawingml/2006/main" prst="rect">
            <a:avLst/>
          </a:prstGeom>
          <a:noFill xmlns:a="http://schemas.openxmlformats.org/drawingml/2006/main"/>
          <a:ln xmlns:a="http://schemas.openxmlformats.org/drawingml/2006/main" w="0">
            <a:noFill/>
            <a:prstDash val="solid"/>
          </a:ln>
        </p:spPr>
      </p:sp>
      <p:sp>
        <p:nvSpPr>
          <p:cNvPr id="35" name="anchor-feature">
            <a:extLst xmlns:a="http://schemas.openxmlformats.org/drawingml/2006/main">
              <a:ext uri="{FF2B5EF4-FFF2-40B4-BE49-F238E27FC236}">
                <a16:creationId xmlns:a16="http://schemas.microsoft.com/office/drawing/2014/main" id="{F30F3E22-1BFE-4C54-8373-CD7C285D8234}"/>
              </a:ext>
            </a:extLst>
          </p:cNvPr>
          <p:cNvSpPr>
            <a:spLocks xmlns:a="http://schemas.openxmlformats.org/drawingml/2006/main" noGrp="1"/>
          </p:cNvSpPr>
          <p:nvPr/>
        </p:nvSpPr>
        <p:spPr>
          <a:xfrm xmlns:a="http://schemas.openxmlformats.org/drawingml/2006/main">
            <a:off x="3733800" y="6162675"/>
            <a:ext cx="1095375" cy="571500"/>
          </a:xfrm>
          <a:prstGeom xmlns:a="http://schemas.openxmlformats.org/drawingml/2006/main" prst="rect">
            <a:avLst/>
          </a:prstGeom>
          <a:noFill xmlns:a="http://schemas.openxmlformats.org/drawingml/2006/main"/>
          <a:ln xmlns:a="http://schemas.openxmlformats.org/drawingml/2006/main" w="0">
            <a:noFill/>
            <a:prstDash val="solid"/>
          </a:ln>
        </p:spPr>
      </p:sp>
      <p:sp>
        <p:nvSpPr>
          <p:cNvPr id="36" name="anchor-backend">
            <a:extLst xmlns:a="http://schemas.openxmlformats.org/drawingml/2006/main">
              <a:ext uri="{FF2B5EF4-FFF2-40B4-BE49-F238E27FC236}">
                <a16:creationId xmlns:a16="http://schemas.microsoft.com/office/drawing/2014/main" id="{33C33361-2B70-4763-81C1-3E2E1005355D}"/>
              </a:ext>
            </a:extLst>
          </p:cNvPr>
          <p:cNvSpPr>
            <a:spLocks xmlns:a="http://schemas.openxmlformats.org/drawingml/2006/main" noGrp="1"/>
          </p:cNvSpPr>
          <p:nvPr/>
        </p:nvSpPr>
        <p:spPr>
          <a:xfrm xmlns:a="http://schemas.openxmlformats.org/drawingml/2006/main">
            <a:off x="4953000" y="6162675"/>
            <a:ext cx="904875" cy="571500"/>
          </a:xfrm>
          <a:prstGeom xmlns:a="http://schemas.openxmlformats.org/drawingml/2006/main" prst="rect">
            <a:avLst/>
          </a:prstGeom>
          <a:noFill xmlns:a="http://schemas.openxmlformats.org/drawingml/2006/main"/>
          <a:ln xmlns:a="http://schemas.openxmlformats.org/drawingml/2006/main" w="0">
            <a:noFill/>
            <a:prstDash val="solid"/>
          </a:ln>
        </p:spPr>
      </p:sp>
      <p:sp>
        <p:nvSpPr>
          <p:cNvPr id="37" name="anchor-output">
            <a:extLst xmlns:a="http://schemas.openxmlformats.org/drawingml/2006/main">
              <a:ext uri="{FF2B5EF4-FFF2-40B4-BE49-F238E27FC236}">
                <a16:creationId xmlns:a16="http://schemas.microsoft.com/office/drawing/2014/main" id="{E0642C2A-BB18-470B-8620-50659AF5FF67}"/>
              </a:ext>
            </a:extLst>
          </p:cNvPr>
          <p:cNvSpPr>
            <a:spLocks xmlns:a="http://schemas.openxmlformats.org/drawingml/2006/main" noGrp="1"/>
          </p:cNvSpPr>
          <p:nvPr/>
        </p:nvSpPr>
        <p:spPr>
          <a:xfrm xmlns:a="http://schemas.openxmlformats.org/drawingml/2006/main">
            <a:off x="5972175" y="6162675"/>
            <a:ext cx="1152525" cy="57150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40" name=""/>
          <p:cNvCxnSpPr>
            <a:stCxn xmlns:a="http://schemas.openxmlformats.org/drawingml/2006/main" id="30" idx="3"/>
            <a:endCxn xmlns:a="http://schemas.openxmlformats.org/drawingml/2006/main" id="32" idx="1"/>
          </p:cNvCxnSpPr>
          <p:nvPr/>
        </p:nvCxnSpPr>
        <p:spPr>
          <a:xfrm xmlns:a="http://schemas.openxmlformats.org/drawingml/2006/main">
            <a:off x="1485900" y="6157913"/>
            <a:ext cx="114300" cy="0"/>
          </a:xfrm>
          <a:prstGeom xmlns:a="http://schemas.openxmlformats.org/drawingml/2006/main" prst="straightConnector1">
            <a:avLst/>
          </a:prstGeom>
          <a:ln xmlns:a="http://schemas.openxmlformats.org/drawingml/2006/main" w="16193">
            <a:solidFill>
              <a:srgbClr val="003D7C"/>
            </a:solidFill>
            <a:prstDash val="solid"/>
            <a:tailEnd type="triangle" w="sm" len="sm"/>
          </a:ln>
        </p:spPr>
      </p:cxnSp>
      <p:cxnSp>
        <p:nvCxnSpPr>
          <p:cNvPr id="141" name=""/>
          <p:cNvCxnSpPr>
            <a:stCxn xmlns:a="http://schemas.openxmlformats.org/drawingml/2006/main" id="32" idx="3"/>
            <a:endCxn xmlns:a="http://schemas.openxmlformats.org/drawingml/2006/main" id="34" idx="1"/>
          </p:cNvCxnSpPr>
          <p:nvPr/>
        </p:nvCxnSpPr>
        <p:spPr>
          <a:xfrm xmlns:a="http://schemas.openxmlformats.org/drawingml/2006/main">
            <a:off x="2505075" y="6157913"/>
            <a:ext cx="114300" cy="290513"/>
          </a:xfrm>
          <a:prstGeom xmlns:a="http://schemas.openxmlformats.org/drawingml/2006/main" prst="straightConnector1">
            <a:avLst/>
          </a:prstGeom>
          <a:ln xmlns:a="http://schemas.openxmlformats.org/drawingml/2006/main" w="16193">
            <a:solidFill>
              <a:srgbClr val="003D7C"/>
            </a:solidFill>
            <a:prstDash val="solid"/>
            <a:tailEnd type="triangle" w="sm" len="sm"/>
          </a:ln>
        </p:spPr>
      </p:cxnSp>
      <p:cxnSp>
        <p:nvCxnSpPr>
          <p:cNvPr id="142" name=""/>
          <p:cNvCxnSpPr>
            <a:stCxn xmlns:a="http://schemas.openxmlformats.org/drawingml/2006/main" id="31" idx="3"/>
            <a:endCxn xmlns:a="http://schemas.openxmlformats.org/drawingml/2006/main" id="33" idx="1"/>
          </p:cNvCxnSpPr>
          <p:nvPr/>
        </p:nvCxnSpPr>
        <p:spPr>
          <a:xfrm xmlns:a="http://schemas.openxmlformats.org/drawingml/2006/main">
            <a:off x="1485900" y="6648450"/>
            <a:ext cx="114300" cy="0"/>
          </a:xfrm>
          <a:prstGeom xmlns:a="http://schemas.openxmlformats.org/drawingml/2006/main" prst="straightConnector1">
            <a:avLst/>
          </a:prstGeom>
          <a:ln xmlns:a="http://schemas.openxmlformats.org/drawingml/2006/main" w="16193">
            <a:solidFill>
              <a:srgbClr val="003D7C"/>
            </a:solidFill>
            <a:prstDash val="solid"/>
            <a:tailEnd type="triangle" w="sm" len="sm"/>
          </a:ln>
        </p:spPr>
      </p:cxnSp>
      <p:cxnSp>
        <p:nvCxnSpPr>
          <p:cNvPr id="143" name=""/>
          <p:cNvCxnSpPr>
            <a:stCxn xmlns:a="http://schemas.openxmlformats.org/drawingml/2006/main" id="33" idx="3"/>
            <a:endCxn xmlns:a="http://schemas.openxmlformats.org/drawingml/2006/main" id="34" idx="1"/>
          </p:cNvCxnSpPr>
          <p:nvPr/>
        </p:nvCxnSpPr>
        <p:spPr>
          <a:xfrm xmlns:a="http://schemas.openxmlformats.org/drawingml/2006/main" flipV="1">
            <a:off x="2505075" y="6448425"/>
            <a:ext cx="114300" cy="200025"/>
          </a:xfrm>
          <a:prstGeom xmlns:a="http://schemas.openxmlformats.org/drawingml/2006/main" prst="straightConnector1">
            <a:avLst/>
          </a:prstGeom>
          <a:ln xmlns:a="http://schemas.openxmlformats.org/drawingml/2006/main" w="16193">
            <a:solidFill>
              <a:srgbClr val="003D7C"/>
            </a:solidFill>
            <a:prstDash val="solid"/>
            <a:tailEnd type="triangle" w="sm" len="sm"/>
          </a:ln>
        </p:spPr>
      </p:cxnSp>
      <p:cxnSp>
        <p:nvCxnSpPr>
          <p:cNvPr id="144" name=""/>
          <p:cNvCxnSpPr>
            <a:stCxn xmlns:a="http://schemas.openxmlformats.org/drawingml/2006/main" id="34" idx="3"/>
            <a:endCxn xmlns:a="http://schemas.openxmlformats.org/drawingml/2006/main" id="35" idx="1"/>
          </p:cNvCxnSpPr>
          <p:nvPr/>
        </p:nvCxnSpPr>
        <p:spPr>
          <a:xfrm xmlns:a="http://schemas.openxmlformats.org/drawingml/2006/main">
            <a:off x="3619500" y="6448425"/>
            <a:ext cx="114300" cy="0"/>
          </a:xfrm>
          <a:prstGeom xmlns:a="http://schemas.openxmlformats.org/drawingml/2006/main" prst="straightConnector1">
            <a:avLst/>
          </a:prstGeom>
          <a:ln xmlns:a="http://schemas.openxmlformats.org/drawingml/2006/main" w="16193">
            <a:solidFill>
              <a:srgbClr val="EF7C00"/>
            </a:solidFill>
            <a:prstDash val="solid"/>
            <a:tailEnd type="triangle" w="sm" len="sm"/>
          </a:ln>
        </p:spPr>
      </p:cxnSp>
      <p:cxnSp>
        <p:nvCxnSpPr>
          <p:cNvPr id="145" name=""/>
          <p:cNvCxnSpPr>
            <a:stCxn xmlns:a="http://schemas.openxmlformats.org/drawingml/2006/main" id="35" idx="3"/>
            <a:endCxn xmlns:a="http://schemas.openxmlformats.org/drawingml/2006/main" id="36" idx="1"/>
          </p:cNvCxnSpPr>
          <p:nvPr/>
        </p:nvCxnSpPr>
        <p:spPr>
          <a:xfrm xmlns:a="http://schemas.openxmlformats.org/drawingml/2006/main">
            <a:off x="4829175" y="6448425"/>
            <a:ext cx="123825" cy="0"/>
          </a:xfrm>
          <a:prstGeom xmlns:a="http://schemas.openxmlformats.org/drawingml/2006/main" prst="straightConnector1">
            <a:avLst/>
          </a:prstGeom>
          <a:ln xmlns:a="http://schemas.openxmlformats.org/drawingml/2006/main" w="16193">
            <a:solidFill>
              <a:srgbClr val="EF7C00"/>
            </a:solidFill>
            <a:prstDash val="solid"/>
            <a:tailEnd type="triangle" w="sm" len="sm"/>
          </a:ln>
        </p:spPr>
      </p:cxnSp>
      <p:cxnSp>
        <p:nvCxnSpPr>
          <p:cNvPr id="146" name=""/>
          <p:cNvCxnSpPr>
            <a:stCxn xmlns:a="http://schemas.openxmlformats.org/drawingml/2006/main" id="36" idx="3"/>
            <a:endCxn xmlns:a="http://schemas.openxmlformats.org/drawingml/2006/main" id="37" idx="1"/>
          </p:cNvCxnSpPr>
          <p:nvPr/>
        </p:nvCxnSpPr>
        <p:spPr>
          <a:xfrm xmlns:a="http://schemas.openxmlformats.org/drawingml/2006/main">
            <a:off x="5857875" y="6448425"/>
            <a:ext cx="114300" cy="0"/>
          </a:xfrm>
          <a:prstGeom xmlns:a="http://schemas.openxmlformats.org/drawingml/2006/main" prst="straightConnector1">
            <a:avLst/>
          </a:prstGeom>
          <a:ln xmlns:a="http://schemas.openxmlformats.org/drawingml/2006/main" w="16193">
            <a:solidFill>
              <a:srgbClr val="003D7C"/>
            </a:solidFill>
            <a:prstDash val="solid"/>
            <a:tailEnd type="triangle" w="sm" len="sm"/>
          </a:ln>
        </p:spPr>
      </p:cxnSp>
      <p:sp>
        <p:nvSpPr>
          <p:cNvPr id="45" name="node-sensors-box">
            <a:extLst xmlns:a="http://schemas.openxmlformats.org/drawingml/2006/main">
              <a:ext uri="{FF2B5EF4-FFF2-40B4-BE49-F238E27FC236}">
                <a16:creationId xmlns:a16="http://schemas.microsoft.com/office/drawing/2014/main" id="{724E048E-091F-477E-9501-4E4A4BE061C6}"/>
              </a:ext>
            </a:extLst>
          </p:cNvPr>
          <p:cNvSpPr>
            <a:spLocks xmlns:a="http://schemas.openxmlformats.org/drawingml/2006/main" noGrp="1"/>
          </p:cNvSpPr>
          <p:nvPr/>
        </p:nvSpPr>
        <p:spPr>
          <a:xfrm xmlns:a="http://schemas.openxmlformats.org/drawingml/2006/main">
            <a:off x="438150" y="5943600"/>
            <a:ext cx="1047750" cy="428625"/>
          </a:xfrm>
          <a:prstGeom xmlns:a="http://schemas.openxmlformats.org/drawingml/2006/main" prst="roundRect">
            <a:avLst>
              <a:gd name="adj" fmla="val 17778"/>
            </a:avLst>
          </a:prstGeom>
          <a:solidFill xmlns:a="http://schemas.openxmlformats.org/drawingml/2006/main">
            <a:srgbClr val="E9F1F8"/>
          </a:solidFill>
          <a:ln xmlns:a="http://schemas.openxmlformats.org/drawingml/2006/main" w="11430">
            <a:solidFill>
              <a:srgbClr val="003D7C"/>
            </a:solidFill>
            <a:prstDash val="solid"/>
          </a:ln>
        </p:spPr>
      </p:sp>
      <p:sp>
        <p:nvSpPr>
          <p:cNvPr id="46" name="node-sensors-label">
            <a:extLst xmlns:a="http://schemas.openxmlformats.org/drawingml/2006/main">
              <a:ext uri="{FF2B5EF4-FFF2-40B4-BE49-F238E27FC236}">
                <a16:creationId xmlns:a16="http://schemas.microsoft.com/office/drawing/2014/main" id="{91A4DCA5-1AAE-4EAF-846F-F56C89AE00AA}"/>
              </a:ext>
            </a:extLst>
          </p:cNvPr>
          <p:cNvSpPr>
            <a:spLocks xmlns:a="http://schemas.openxmlformats.org/drawingml/2006/main" noGrp="1"/>
          </p:cNvSpPr>
          <p:nvPr/>
        </p:nvSpPr>
        <p:spPr>
          <a:xfrm xmlns:a="http://schemas.openxmlformats.org/drawingml/2006/main">
            <a:off x="495300" y="5991225"/>
            <a:ext cx="9334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96000"/>
              </a:lnSpc>
              <a:buNone/>
              <a:defRPr sz="930" b="1">
                <a:solidFill>
                  <a:srgbClr val="003D7C"/>
                </a:solidFill>
                <a:latin typeface="Aptos"/>
                <a:ea typeface="Aptos"/>
                <a:cs typeface="Aptos"/>
              </a:defRPr>
            </a:pPr>
            <a:r>
              <a:rPr sz="930" b="1">
                <a:solidFill>
                  <a:srgbClr val="003D7C"/>
                </a:solidFill>
                <a:latin typeface="Aptos"/>
                <a:ea typeface="Aptos"/>
                <a:cs typeface="Aptos"/>
              </a:rPr>
              <a:t>MLX90640</a:t>
            </a:r>
          </a:p>
          <a:p xmlns:a="http://schemas.openxmlformats.org/drawingml/2006/main">
            <a:pPr algn="ctr">
              <a:lnSpc>
                <a:spcPct val="96000"/>
              </a:lnSpc>
              <a:buNone/>
              <a:defRPr sz="930" b="1">
                <a:solidFill>
                  <a:srgbClr val="003D7C"/>
                </a:solidFill>
                <a:latin typeface="Aptos"/>
                <a:ea typeface="Aptos"/>
                <a:cs typeface="Aptos"/>
              </a:defRPr>
            </a:pPr>
            <a:r>
              <a:rPr sz="930" b="1">
                <a:solidFill>
                  <a:srgbClr val="003D7C"/>
                </a:solidFill>
                <a:latin typeface="Aptos"/>
                <a:ea typeface="Aptos"/>
                <a:cs typeface="Aptos"/>
              </a:rPr>
              <a:t>HW-486 · DHT11</a:t>
            </a:r>
          </a:p>
        </p:txBody>
      </p:sp>
      <p:sp>
        <p:nvSpPr>
          <p:cNvPr id="47" name="node-mic-box">
            <a:extLst xmlns:a="http://schemas.openxmlformats.org/drawingml/2006/main">
              <a:ext uri="{FF2B5EF4-FFF2-40B4-BE49-F238E27FC236}">
                <a16:creationId xmlns:a16="http://schemas.microsoft.com/office/drawing/2014/main" id="{199A53F5-FD2D-4E6D-9E79-B5C811D9BFD1}"/>
              </a:ext>
            </a:extLst>
          </p:cNvPr>
          <p:cNvSpPr>
            <a:spLocks xmlns:a="http://schemas.openxmlformats.org/drawingml/2006/main" noGrp="1"/>
          </p:cNvSpPr>
          <p:nvPr/>
        </p:nvSpPr>
        <p:spPr>
          <a:xfrm xmlns:a="http://schemas.openxmlformats.org/drawingml/2006/main">
            <a:off x="438150" y="6457950"/>
            <a:ext cx="1047750" cy="381000"/>
          </a:xfrm>
          <a:prstGeom xmlns:a="http://schemas.openxmlformats.org/drawingml/2006/main" prst="roundRect">
            <a:avLst>
              <a:gd name="adj" fmla="val 20000"/>
            </a:avLst>
          </a:prstGeom>
          <a:solidFill xmlns:a="http://schemas.openxmlformats.org/drawingml/2006/main">
            <a:srgbClr val="E9F1F8"/>
          </a:solidFill>
          <a:ln xmlns:a="http://schemas.openxmlformats.org/drawingml/2006/main" w="11430">
            <a:solidFill>
              <a:srgbClr val="003D7C"/>
            </a:solidFill>
            <a:prstDash val="solid"/>
          </a:ln>
        </p:spPr>
      </p:sp>
      <p:sp>
        <p:nvSpPr>
          <p:cNvPr id="48" name="node-mic-label">
            <a:extLst xmlns:a="http://schemas.openxmlformats.org/drawingml/2006/main">
              <a:ext uri="{FF2B5EF4-FFF2-40B4-BE49-F238E27FC236}">
                <a16:creationId xmlns:a16="http://schemas.microsoft.com/office/drawing/2014/main" id="{2689F805-5475-407B-A590-D523073CCA92}"/>
              </a:ext>
            </a:extLst>
          </p:cNvPr>
          <p:cNvSpPr>
            <a:spLocks xmlns:a="http://schemas.openxmlformats.org/drawingml/2006/main" noGrp="1"/>
          </p:cNvSpPr>
          <p:nvPr/>
        </p:nvSpPr>
        <p:spPr>
          <a:xfrm xmlns:a="http://schemas.openxmlformats.org/drawingml/2006/main">
            <a:off x="495300" y="6505575"/>
            <a:ext cx="933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96000"/>
              </a:lnSpc>
              <a:buNone/>
              <a:defRPr sz="915" b="1">
                <a:solidFill>
                  <a:srgbClr val="003D7C"/>
                </a:solidFill>
                <a:latin typeface="Aptos"/>
                <a:ea typeface="Aptos"/>
                <a:cs typeface="Aptos"/>
              </a:defRPr>
            </a:pPr>
            <a:r>
              <a:rPr sz="915" b="1">
                <a:solidFill>
                  <a:srgbClr val="003D7C"/>
                </a:solidFill>
                <a:latin typeface="Aptos"/>
                <a:ea typeface="Aptos"/>
                <a:cs typeface="Aptos"/>
              </a:rPr>
              <a:t>Laptop microphone</a:t>
            </a:r>
          </a:p>
        </p:txBody>
      </p:sp>
      <p:sp>
        <p:nvSpPr>
          <p:cNvPr id="49" name="node-esp32-box">
            <a:extLst xmlns:a="http://schemas.openxmlformats.org/drawingml/2006/main">
              <a:ext uri="{FF2B5EF4-FFF2-40B4-BE49-F238E27FC236}">
                <a16:creationId xmlns:a16="http://schemas.microsoft.com/office/drawing/2014/main" id="{6B09BCD8-FCEA-4371-9C6B-D396EB003460}"/>
              </a:ext>
            </a:extLst>
          </p:cNvPr>
          <p:cNvSpPr>
            <a:spLocks xmlns:a="http://schemas.openxmlformats.org/drawingml/2006/main" noGrp="1"/>
          </p:cNvSpPr>
          <p:nvPr/>
        </p:nvSpPr>
        <p:spPr>
          <a:xfrm xmlns:a="http://schemas.openxmlformats.org/drawingml/2006/main">
            <a:off x="1600200" y="5943600"/>
            <a:ext cx="904875" cy="428625"/>
          </a:xfrm>
          <a:prstGeom xmlns:a="http://schemas.openxmlformats.org/drawingml/2006/main" prst="roundRect">
            <a:avLst>
              <a:gd name="adj" fmla="val 17778"/>
            </a:avLst>
          </a:prstGeom>
          <a:solidFill xmlns:a="http://schemas.openxmlformats.org/drawingml/2006/main">
            <a:srgbClr val="E9F1F8"/>
          </a:solidFill>
          <a:ln xmlns:a="http://schemas.openxmlformats.org/drawingml/2006/main" w="11430">
            <a:solidFill>
              <a:srgbClr val="003D7C"/>
            </a:solidFill>
            <a:prstDash val="solid"/>
          </a:ln>
        </p:spPr>
      </p:sp>
      <p:sp>
        <p:nvSpPr>
          <p:cNvPr id="50" name="node-esp32-label">
            <a:extLst xmlns:a="http://schemas.openxmlformats.org/drawingml/2006/main">
              <a:ext uri="{FF2B5EF4-FFF2-40B4-BE49-F238E27FC236}">
                <a16:creationId xmlns:a16="http://schemas.microsoft.com/office/drawing/2014/main" id="{00AA753E-2B5D-4520-B8DF-DD02A6F7B0B3}"/>
              </a:ext>
            </a:extLst>
          </p:cNvPr>
          <p:cNvSpPr>
            <a:spLocks xmlns:a="http://schemas.openxmlformats.org/drawingml/2006/main" noGrp="1"/>
          </p:cNvSpPr>
          <p:nvPr/>
        </p:nvSpPr>
        <p:spPr>
          <a:xfrm xmlns:a="http://schemas.openxmlformats.org/drawingml/2006/main">
            <a:off x="1657350" y="5991225"/>
            <a:ext cx="7905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96000"/>
              </a:lnSpc>
              <a:buNone/>
              <a:defRPr sz="930" b="1">
                <a:solidFill>
                  <a:srgbClr val="003D7C"/>
                </a:solidFill>
                <a:latin typeface="Aptos"/>
                <a:ea typeface="Aptos"/>
                <a:cs typeface="Aptos"/>
              </a:defRPr>
            </a:pPr>
            <a:r>
              <a:rPr sz="930" b="1">
                <a:solidFill>
                  <a:srgbClr val="003D7C"/>
                </a:solidFill>
                <a:latin typeface="Aptos"/>
                <a:ea typeface="Aptos"/>
                <a:cs typeface="Aptos"/>
              </a:rPr>
              <a:t>ESP32</a:t>
            </a:r>
          </a:p>
          <a:p xmlns:a="http://schemas.openxmlformats.org/drawingml/2006/main">
            <a:pPr algn="ctr">
              <a:lnSpc>
                <a:spcPct val="96000"/>
              </a:lnSpc>
              <a:buNone/>
              <a:defRPr sz="930" b="1">
                <a:solidFill>
                  <a:srgbClr val="003D7C"/>
                </a:solidFill>
                <a:latin typeface="Aptos"/>
                <a:ea typeface="Aptos"/>
                <a:cs typeface="Aptos"/>
              </a:defRPr>
            </a:pPr>
            <a:r>
              <a:rPr sz="930" b="1">
                <a:solidFill>
                  <a:srgbClr val="003D7C"/>
                </a:solidFill>
                <a:latin typeface="Aptos"/>
                <a:ea typeface="Aptos"/>
                <a:cs typeface="Aptos"/>
              </a:rPr>
              <a:t>sensor hub</a:t>
            </a:r>
          </a:p>
        </p:txBody>
      </p:sp>
      <p:sp>
        <p:nvSpPr>
          <p:cNvPr id="51" name="node-agent-box">
            <a:extLst xmlns:a="http://schemas.openxmlformats.org/drawingml/2006/main">
              <a:ext uri="{FF2B5EF4-FFF2-40B4-BE49-F238E27FC236}">
                <a16:creationId xmlns:a16="http://schemas.microsoft.com/office/drawing/2014/main" id="{843F8A3D-F161-47B0-A64A-E983DF5D7636}"/>
              </a:ext>
            </a:extLst>
          </p:cNvPr>
          <p:cNvSpPr>
            <a:spLocks xmlns:a="http://schemas.openxmlformats.org/drawingml/2006/main" noGrp="1"/>
          </p:cNvSpPr>
          <p:nvPr/>
        </p:nvSpPr>
        <p:spPr>
          <a:xfrm xmlns:a="http://schemas.openxmlformats.org/drawingml/2006/main">
            <a:off x="1600200" y="6457950"/>
            <a:ext cx="904875" cy="381000"/>
          </a:xfrm>
          <a:prstGeom xmlns:a="http://schemas.openxmlformats.org/drawingml/2006/main" prst="roundRect">
            <a:avLst>
              <a:gd name="adj" fmla="val 20000"/>
            </a:avLst>
          </a:prstGeom>
          <a:solidFill xmlns:a="http://schemas.openxmlformats.org/drawingml/2006/main">
            <a:srgbClr val="E9F1F8"/>
          </a:solidFill>
          <a:ln xmlns:a="http://schemas.openxmlformats.org/drawingml/2006/main" w="11430">
            <a:solidFill>
              <a:srgbClr val="003D7C"/>
            </a:solidFill>
            <a:prstDash val="solid"/>
          </a:ln>
        </p:spPr>
      </p:sp>
      <p:sp>
        <p:nvSpPr>
          <p:cNvPr id="52" name="node-agent-label">
            <a:extLst xmlns:a="http://schemas.openxmlformats.org/drawingml/2006/main">
              <a:ext uri="{FF2B5EF4-FFF2-40B4-BE49-F238E27FC236}">
                <a16:creationId xmlns:a16="http://schemas.microsoft.com/office/drawing/2014/main" id="{21B30063-AEF2-47F9-A488-72DC7D7FF97F}"/>
              </a:ext>
            </a:extLst>
          </p:cNvPr>
          <p:cNvSpPr>
            <a:spLocks xmlns:a="http://schemas.openxmlformats.org/drawingml/2006/main" noGrp="1"/>
          </p:cNvSpPr>
          <p:nvPr/>
        </p:nvSpPr>
        <p:spPr>
          <a:xfrm xmlns:a="http://schemas.openxmlformats.org/drawingml/2006/main">
            <a:off x="1657350" y="6505575"/>
            <a:ext cx="790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96000"/>
              </a:lnSpc>
              <a:buNone/>
              <a:defRPr sz="870" b="1">
                <a:solidFill>
                  <a:srgbClr val="003D7C"/>
                </a:solidFill>
                <a:latin typeface="Aptos"/>
                <a:ea typeface="Aptos"/>
                <a:cs typeface="Aptos"/>
              </a:defRPr>
            </a:pPr>
            <a:r>
              <a:rPr sz="870" b="1">
                <a:solidFill>
                  <a:srgbClr val="003D7C"/>
                </a:solidFill>
                <a:latin typeface="Aptos"/>
                <a:ea typeface="Aptos"/>
                <a:cs typeface="Aptos"/>
              </a:rPr>
              <a:t>Local summary</a:t>
            </a:r>
          </a:p>
          <a:p xmlns:a="http://schemas.openxmlformats.org/drawingml/2006/main">
            <a:pPr algn="ctr">
              <a:lnSpc>
                <a:spcPct val="96000"/>
              </a:lnSpc>
              <a:buNone/>
              <a:defRPr sz="870" b="1">
                <a:solidFill>
                  <a:srgbClr val="003D7C"/>
                </a:solidFill>
                <a:latin typeface="Aptos"/>
                <a:ea typeface="Aptos"/>
                <a:cs typeface="Aptos"/>
              </a:defRPr>
            </a:pPr>
            <a:r>
              <a:rPr sz="870" b="1">
                <a:solidFill>
                  <a:srgbClr val="003D7C"/>
                </a:solidFill>
                <a:latin typeface="Aptos"/>
                <a:ea typeface="Aptos"/>
                <a:cs typeface="Aptos"/>
              </a:rPr>
              <a:t>agent</a:t>
            </a:r>
          </a:p>
        </p:txBody>
      </p:sp>
      <p:sp>
        <p:nvSpPr>
          <p:cNvPr id="53" name="node-pi-box">
            <a:extLst xmlns:a="http://schemas.openxmlformats.org/drawingml/2006/main">
              <a:ext uri="{FF2B5EF4-FFF2-40B4-BE49-F238E27FC236}">
                <a16:creationId xmlns:a16="http://schemas.microsoft.com/office/drawing/2014/main" id="{6CD9E300-988D-49A3-B7B8-4BADA20560D8}"/>
              </a:ext>
            </a:extLst>
          </p:cNvPr>
          <p:cNvSpPr>
            <a:spLocks xmlns:a="http://schemas.openxmlformats.org/drawingml/2006/main" noGrp="1"/>
          </p:cNvSpPr>
          <p:nvPr/>
        </p:nvSpPr>
        <p:spPr>
          <a:xfrm xmlns:a="http://schemas.openxmlformats.org/drawingml/2006/main">
            <a:off x="2619375" y="6162675"/>
            <a:ext cx="1000125" cy="571500"/>
          </a:xfrm>
          <a:prstGeom xmlns:a="http://schemas.openxmlformats.org/drawingml/2006/main" prst="roundRect">
            <a:avLst>
              <a:gd name="adj" fmla="val 13333"/>
            </a:avLst>
          </a:prstGeom>
          <a:solidFill xmlns:a="http://schemas.openxmlformats.org/drawingml/2006/main">
            <a:srgbClr val="FFF0DE"/>
          </a:solidFill>
          <a:ln xmlns:a="http://schemas.openxmlformats.org/drawingml/2006/main" w="11430">
            <a:solidFill>
              <a:srgbClr val="EF7C00"/>
            </a:solidFill>
            <a:prstDash val="solid"/>
          </a:ln>
        </p:spPr>
      </p:sp>
      <p:sp>
        <p:nvSpPr>
          <p:cNvPr id="54" name="node-pi-label">
            <a:extLst xmlns:a="http://schemas.openxmlformats.org/drawingml/2006/main">
              <a:ext uri="{FF2B5EF4-FFF2-40B4-BE49-F238E27FC236}">
                <a16:creationId xmlns:a16="http://schemas.microsoft.com/office/drawing/2014/main" id="{AA30E6F4-99D2-444D-997B-21833ADA6460}"/>
              </a:ext>
            </a:extLst>
          </p:cNvPr>
          <p:cNvSpPr>
            <a:spLocks xmlns:a="http://schemas.openxmlformats.org/drawingml/2006/main" noGrp="1"/>
          </p:cNvSpPr>
          <p:nvPr/>
        </p:nvSpPr>
        <p:spPr>
          <a:xfrm xmlns:a="http://schemas.openxmlformats.org/drawingml/2006/main">
            <a:off x="2676525" y="6210300"/>
            <a:ext cx="8858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96000"/>
              </a:lnSpc>
              <a:buNone/>
              <a:defRPr sz="930" b="1">
                <a:solidFill>
                  <a:srgbClr val="142433"/>
                </a:solidFill>
                <a:latin typeface="Aptos"/>
                <a:ea typeface="Aptos"/>
                <a:cs typeface="Aptos"/>
              </a:defRPr>
            </a:pPr>
            <a:r>
              <a:rPr sz="930" b="1">
                <a:solidFill>
                  <a:srgbClr val="142433"/>
                </a:solidFill>
                <a:latin typeface="Aptos"/>
                <a:ea typeface="Aptos"/>
                <a:cs typeface="Aptos"/>
              </a:rPr>
              <a:t>Raspberry Pi 5</a:t>
            </a:r>
          </a:p>
          <a:p xmlns:a="http://schemas.openxmlformats.org/drawingml/2006/main">
            <a:pPr algn="ctr">
              <a:lnSpc>
                <a:spcPct val="96000"/>
              </a:lnSpc>
              <a:buNone/>
              <a:defRPr sz="930" b="1">
                <a:solidFill>
                  <a:srgbClr val="142433"/>
                </a:solidFill>
                <a:latin typeface="Aptos"/>
                <a:ea typeface="Aptos"/>
                <a:cs typeface="Aptos"/>
              </a:defRPr>
            </a:pPr>
            <a:r>
              <a:rPr sz="930" b="1">
                <a:solidFill>
                  <a:srgbClr val="142433"/>
                </a:solidFill>
                <a:latin typeface="Aptos"/>
                <a:ea typeface="Aptos"/>
                <a:cs typeface="Aptos"/>
              </a:rPr>
              <a:t>edge processing</a:t>
            </a:r>
          </a:p>
        </p:txBody>
      </p:sp>
      <p:sp>
        <p:nvSpPr>
          <p:cNvPr id="55" name="node-feature-box">
            <a:extLst xmlns:a="http://schemas.openxmlformats.org/drawingml/2006/main">
              <a:ext uri="{FF2B5EF4-FFF2-40B4-BE49-F238E27FC236}">
                <a16:creationId xmlns:a16="http://schemas.microsoft.com/office/drawing/2014/main" id="{32B78994-0F33-40C4-B412-D72B61805BE6}"/>
              </a:ext>
            </a:extLst>
          </p:cNvPr>
          <p:cNvSpPr>
            <a:spLocks xmlns:a="http://schemas.openxmlformats.org/drawingml/2006/main" noGrp="1"/>
          </p:cNvSpPr>
          <p:nvPr/>
        </p:nvSpPr>
        <p:spPr>
          <a:xfrm xmlns:a="http://schemas.openxmlformats.org/drawingml/2006/main">
            <a:off x="3733800" y="6162675"/>
            <a:ext cx="1095375" cy="571500"/>
          </a:xfrm>
          <a:prstGeom xmlns:a="http://schemas.openxmlformats.org/drawingml/2006/main" prst="roundRect">
            <a:avLst>
              <a:gd name="adj" fmla="val 13333"/>
            </a:avLst>
          </a:prstGeom>
          <a:solidFill xmlns:a="http://schemas.openxmlformats.org/drawingml/2006/main">
            <a:srgbClr val="FFF0DE"/>
          </a:solidFill>
          <a:ln xmlns:a="http://schemas.openxmlformats.org/drawingml/2006/main" w="11430">
            <a:solidFill>
              <a:srgbClr val="EF7C00"/>
            </a:solidFill>
            <a:prstDash val="solid"/>
          </a:ln>
        </p:spPr>
      </p:sp>
      <p:sp>
        <p:nvSpPr>
          <p:cNvPr id="56" name="node-feature-label">
            <a:extLst xmlns:a="http://schemas.openxmlformats.org/drawingml/2006/main">
              <a:ext uri="{FF2B5EF4-FFF2-40B4-BE49-F238E27FC236}">
                <a16:creationId xmlns:a16="http://schemas.microsoft.com/office/drawing/2014/main" id="{71B7ED3D-2ABD-4D7D-845F-357C88212D78}"/>
              </a:ext>
            </a:extLst>
          </p:cNvPr>
          <p:cNvSpPr>
            <a:spLocks xmlns:a="http://schemas.openxmlformats.org/drawingml/2006/main" noGrp="1"/>
          </p:cNvSpPr>
          <p:nvPr/>
        </p:nvSpPr>
        <p:spPr>
          <a:xfrm xmlns:a="http://schemas.openxmlformats.org/drawingml/2006/main">
            <a:off x="3790950" y="6210300"/>
            <a:ext cx="9810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540"/>
          </a:bodyPr>
          <a:lstStyle xmlns:a="http://schemas.openxmlformats.org/drawingml/2006/main"/>
          <a:p xmlns:a="http://schemas.openxmlformats.org/drawingml/2006/main">
            <a:pPr algn="ctr">
              <a:lnSpc>
                <a:spcPct val="96000"/>
              </a:lnSpc>
              <a:buNone/>
              <a:defRPr sz="870" b="1">
                <a:solidFill>
                  <a:srgbClr val="142433"/>
                </a:solidFill>
                <a:latin typeface="Aptos"/>
                <a:ea typeface="Aptos"/>
                <a:cs typeface="Aptos"/>
              </a:defRPr>
            </a:pPr>
            <a:r>
              <a:rPr sz="870" b="1">
                <a:solidFill>
                  <a:srgbClr val="142433"/>
                </a:solidFill>
                <a:latin typeface="Aptos"/>
                <a:ea typeface="Aptos"/>
                <a:cs typeface="Aptos"/>
              </a:rPr>
              <a:t>Privacy-safe</a:t>
            </a:r>
          </a:p>
          <a:p xmlns:a="http://schemas.openxmlformats.org/drawingml/2006/main">
            <a:pPr algn="ctr">
              <a:lnSpc>
                <a:spcPct val="96000"/>
              </a:lnSpc>
              <a:buNone/>
              <a:defRPr sz="870" b="1">
                <a:solidFill>
                  <a:srgbClr val="142433"/>
                </a:solidFill>
                <a:latin typeface="Aptos"/>
                <a:ea typeface="Aptos"/>
                <a:cs typeface="Aptos"/>
              </a:defRPr>
            </a:pPr>
            <a:r>
              <a:rPr sz="870" b="1">
                <a:solidFill>
                  <a:srgbClr val="142433"/>
                </a:solidFill>
                <a:latin typeface="Aptos"/>
                <a:ea typeface="Aptos"/>
                <a:cs typeface="Aptos"/>
              </a:rPr>
              <a:t>features + room-state</a:t>
            </a:r>
          </a:p>
          <a:p xmlns:a="http://schemas.openxmlformats.org/drawingml/2006/main">
            <a:pPr algn="ctr">
              <a:lnSpc>
                <a:spcPct val="96000"/>
              </a:lnSpc>
              <a:buNone/>
              <a:defRPr sz="870" b="1">
                <a:solidFill>
                  <a:srgbClr val="142433"/>
                </a:solidFill>
                <a:latin typeface="Aptos"/>
                <a:ea typeface="Aptos"/>
                <a:cs typeface="Aptos"/>
              </a:defRPr>
            </a:pPr>
            <a:r>
              <a:rPr sz="870" b="1">
                <a:solidFill>
                  <a:srgbClr val="142433"/>
                </a:solidFill>
                <a:latin typeface="Aptos"/>
                <a:ea typeface="Aptos"/>
                <a:cs typeface="Aptos"/>
              </a:rPr>
              <a:t>prototype</a:t>
            </a:r>
          </a:p>
        </p:txBody>
      </p:sp>
      <p:sp>
        <p:nvSpPr>
          <p:cNvPr id="57" name="node-backend-box">
            <a:extLst xmlns:a="http://schemas.openxmlformats.org/drawingml/2006/main">
              <a:ext uri="{FF2B5EF4-FFF2-40B4-BE49-F238E27FC236}">
                <a16:creationId xmlns:a16="http://schemas.microsoft.com/office/drawing/2014/main" id="{3845116A-EBFF-47BD-8E10-FBA49CCDAF22}"/>
              </a:ext>
            </a:extLst>
          </p:cNvPr>
          <p:cNvSpPr>
            <a:spLocks xmlns:a="http://schemas.openxmlformats.org/drawingml/2006/main" noGrp="1"/>
          </p:cNvSpPr>
          <p:nvPr/>
        </p:nvSpPr>
        <p:spPr>
          <a:xfrm xmlns:a="http://schemas.openxmlformats.org/drawingml/2006/main">
            <a:off x="4953000" y="6162675"/>
            <a:ext cx="904875" cy="571500"/>
          </a:xfrm>
          <a:prstGeom xmlns:a="http://schemas.openxmlformats.org/drawingml/2006/main" prst="roundRect">
            <a:avLst>
              <a:gd name="adj" fmla="val 13333"/>
            </a:avLst>
          </a:prstGeom>
          <a:solidFill xmlns:a="http://schemas.openxmlformats.org/drawingml/2006/main">
            <a:srgbClr val="003D7C"/>
          </a:solidFill>
          <a:ln xmlns:a="http://schemas.openxmlformats.org/drawingml/2006/main" w="11430">
            <a:solidFill>
              <a:srgbClr val="003D7C"/>
            </a:solidFill>
            <a:prstDash val="solid"/>
          </a:ln>
        </p:spPr>
      </p:sp>
      <p:sp>
        <p:nvSpPr>
          <p:cNvPr id="58" name="node-backend-label">
            <a:extLst xmlns:a="http://schemas.openxmlformats.org/drawingml/2006/main">
              <a:ext uri="{FF2B5EF4-FFF2-40B4-BE49-F238E27FC236}">
                <a16:creationId xmlns:a16="http://schemas.microsoft.com/office/drawing/2014/main" id="{3E484855-B1BD-4BF3-B662-37184AA625B5}"/>
              </a:ext>
            </a:extLst>
          </p:cNvPr>
          <p:cNvSpPr>
            <a:spLocks xmlns:a="http://schemas.openxmlformats.org/drawingml/2006/main" noGrp="1"/>
          </p:cNvSpPr>
          <p:nvPr/>
        </p:nvSpPr>
        <p:spPr>
          <a:xfrm xmlns:a="http://schemas.openxmlformats.org/drawingml/2006/main">
            <a:off x="5010150" y="6210300"/>
            <a:ext cx="7905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96000"/>
              </a:lnSpc>
              <a:buNone/>
              <a:defRPr sz="975" b="1">
                <a:solidFill>
                  <a:srgbClr val="FFFFFF"/>
                </a:solidFill>
                <a:latin typeface="Aptos"/>
                <a:ea typeface="Aptos"/>
                <a:cs typeface="Aptos"/>
              </a:defRPr>
            </a:pPr>
            <a:r>
              <a:rPr sz="975" b="1">
                <a:solidFill>
                  <a:srgbClr val="FFFFFF"/>
                </a:solidFill>
                <a:latin typeface="Aptos"/>
                <a:ea typeface="Aptos"/>
                <a:cs typeface="Aptos"/>
              </a:rPr>
              <a:t>FastAPI</a:t>
            </a:r>
          </a:p>
          <a:p xmlns:a="http://schemas.openxmlformats.org/drawingml/2006/main">
            <a:pPr algn="ctr">
              <a:lnSpc>
                <a:spcPct val="96000"/>
              </a:lnSpc>
              <a:buNone/>
              <a:defRPr sz="975" b="1">
                <a:solidFill>
                  <a:srgbClr val="FFFFFF"/>
                </a:solidFill>
                <a:latin typeface="Aptos"/>
                <a:ea typeface="Aptos"/>
                <a:cs typeface="Aptos"/>
              </a:defRPr>
            </a:pPr>
            <a:r>
              <a:rPr sz="975" b="1">
                <a:solidFill>
                  <a:srgbClr val="FFFFFF"/>
                </a:solidFill>
                <a:latin typeface="Aptos"/>
                <a:ea typeface="Aptos"/>
                <a:cs typeface="Aptos"/>
              </a:rPr>
              <a:t>+ SQLite</a:t>
            </a:r>
          </a:p>
        </p:txBody>
      </p:sp>
      <p:sp>
        <p:nvSpPr>
          <p:cNvPr id="59" name="node-output-box">
            <a:extLst xmlns:a="http://schemas.openxmlformats.org/drawingml/2006/main">
              <a:ext uri="{FF2B5EF4-FFF2-40B4-BE49-F238E27FC236}">
                <a16:creationId xmlns:a16="http://schemas.microsoft.com/office/drawing/2014/main" id="{4873E991-6369-4711-83CC-01F248555725}"/>
              </a:ext>
            </a:extLst>
          </p:cNvPr>
          <p:cNvSpPr>
            <a:spLocks xmlns:a="http://schemas.openxmlformats.org/drawingml/2006/main" noGrp="1"/>
          </p:cNvSpPr>
          <p:nvPr/>
        </p:nvSpPr>
        <p:spPr>
          <a:xfrm xmlns:a="http://schemas.openxmlformats.org/drawingml/2006/main">
            <a:off x="5972175" y="6162675"/>
            <a:ext cx="1152525" cy="571500"/>
          </a:xfrm>
          <a:prstGeom xmlns:a="http://schemas.openxmlformats.org/drawingml/2006/main" prst="roundRect">
            <a:avLst>
              <a:gd name="adj" fmla="val 13333"/>
            </a:avLst>
          </a:prstGeom>
          <a:solidFill xmlns:a="http://schemas.openxmlformats.org/drawingml/2006/main">
            <a:srgbClr val="E6F4F0"/>
          </a:solidFill>
          <a:ln xmlns:a="http://schemas.openxmlformats.org/drawingml/2006/main" w="11430">
            <a:solidFill>
              <a:srgbClr val="0B776A"/>
            </a:solidFill>
            <a:prstDash val="solid"/>
          </a:ln>
        </p:spPr>
      </p:sp>
      <p:sp>
        <p:nvSpPr>
          <p:cNvPr id="60" name="node-output-label">
            <a:extLst xmlns:a="http://schemas.openxmlformats.org/drawingml/2006/main">
              <a:ext uri="{FF2B5EF4-FFF2-40B4-BE49-F238E27FC236}">
                <a16:creationId xmlns:a16="http://schemas.microsoft.com/office/drawing/2014/main" id="{6FB41812-4A6C-486A-9B97-34A0CA3B1AF4}"/>
              </a:ext>
            </a:extLst>
          </p:cNvPr>
          <p:cNvSpPr>
            <a:spLocks xmlns:a="http://schemas.openxmlformats.org/drawingml/2006/main" noGrp="1"/>
          </p:cNvSpPr>
          <p:nvPr/>
        </p:nvSpPr>
        <p:spPr>
          <a:xfrm xmlns:a="http://schemas.openxmlformats.org/drawingml/2006/main">
            <a:off x="6029325" y="6210300"/>
            <a:ext cx="10382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96000"/>
              </a:lnSpc>
              <a:buNone/>
              <a:defRPr sz="840" b="1">
                <a:solidFill>
                  <a:srgbClr val="142433"/>
                </a:solidFill>
                <a:latin typeface="Aptos"/>
                <a:ea typeface="Aptos"/>
                <a:cs typeface="Aptos"/>
              </a:defRPr>
            </a:pPr>
            <a:r>
              <a:rPr sz="840" b="1">
                <a:solidFill>
                  <a:srgbClr val="142433"/>
                </a:solidFill>
                <a:latin typeface="Aptos"/>
                <a:ea typeface="Aptos"/>
                <a:cs typeface="Aptos"/>
              </a:rPr>
              <a:t>Status · history</a:t>
            </a:r>
          </a:p>
          <a:p xmlns:a="http://schemas.openxmlformats.org/drawingml/2006/main">
            <a:pPr algn="ctr">
              <a:lnSpc>
                <a:spcPct val="96000"/>
              </a:lnSpc>
              <a:buNone/>
              <a:defRPr sz="840" b="1">
                <a:solidFill>
                  <a:srgbClr val="142433"/>
                </a:solidFill>
                <a:latin typeface="Aptos"/>
                <a:ea typeface="Aptos"/>
                <a:cs typeface="Aptos"/>
              </a:defRPr>
            </a:pPr>
            <a:r>
              <a:rPr sz="840" b="1">
                <a:solidFill>
                  <a:srgbClr val="142433"/>
                </a:solidFill>
                <a:latin typeface="Aptos"/>
                <a:ea typeface="Aptos"/>
                <a:cs typeface="Aptos"/>
              </a:rPr>
              <a:t>15/30-min forecast</a:t>
            </a:r>
          </a:p>
          <a:p xmlns:a="http://schemas.openxmlformats.org/drawingml/2006/main">
            <a:pPr algn="ctr">
              <a:lnSpc>
                <a:spcPct val="96000"/>
              </a:lnSpc>
              <a:buNone/>
              <a:defRPr sz="840" b="1">
                <a:solidFill>
                  <a:srgbClr val="142433"/>
                </a:solidFill>
                <a:latin typeface="Aptos"/>
                <a:ea typeface="Aptos"/>
                <a:cs typeface="Aptos"/>
              </a:defRPr>
            </a:pPr>
            <a:r>
              <a:rPr sz="840" b="1">
                <a:solidFill>
                  <a:srgbClr val="142433"/>
                </a:solidFill>
                <a:latin typeface="Aptos"/>
                <a:ea typeface="Aptos"/>
                <a:cs typeface="Aptos"/>
              </a:rPr>
              <a:t>React workflow</a:t>
            </a:r>
          </a:p>
        </p:txBody>
      </p:sp>
      <p:sp>
        <p:nvSpPr>
          <p:cNvPr id="61" name="privacy-boundary">
            <a:extLst xmlns:a="http://schemas.openxmlformats.org/drawingml/2006/main">
              <a:ext uri="{FF2B5EF4-FFF2-40B4-BE49-F238E27FC236}">
                <a16:creationId xmlns:a16="http://schemas.microsoft.com/office/drawing/2014/main" id="{FC662E5C-99FC-422E-A70E-7162D2A551AA}"/>
              </a:ext>
            </a:extLst>
          </p:cNvPr>
          <p:cNvSpPr>
            <a:spLocks xmlns:a="http://schemas.openxmlformats.org/drawingml/2006/main" noGrp="1"/>
          </p:cNvSpPr>
          <p:nvPr/>
        </p:nvSpPr>
        <p:spPr>
          <a:xfrm xmlns:a="http://schemas.openxmlformats.org/drawingml/2006/main">
            <a:off x="4886325" y="5895975"/>
            <a:ext cx="0" cy="1028700"/>
          </a:xfrm>
          <a:prstGeom xmlns:a="http://schemas.openxmlformats.org/drawingml/2006/main" prst="line">
            <a:avLst/>
          </a:prstGeom>
          <a:noFill xmlns:a="http://schemas.openxmlformats.org/drawingml/2006/main"/>
          <a:ln xmlns:a="http://schemas.openxmlformats.org/drawingml/2006/main" w="19050">
            <a:solidFill>
              <a:srgbClr val="EF7C00"/>
            </a:solidFill>
            <a:prstDash val="dash"/>
          </a:ln>
        </p:spPr>
      </p:sp>
      <p:sp>
        <p:nvSpPr>
          <p:cNvPr id="62" name="privacy-boundary-label">
            <a:extLst xmlns:a="http://schemas.openxmlformats.org/drawingml/2006/main">
              <a:ext uri="{FF2B5EF4-FFF2-40B4-BE49-F238E27FC236}">
                <a16:creationId xmlns:a16="http://schemas.microsoft.com/office/drawing/2014/main" id="{FE7F316C-8FC6-469B-97D8-8B9AE3F7536A}"/>
              </a:ext>
            </a:extLst>
          </p:cNvPr>
          <p:cNvSpPr>
            <a:spLocks xmlns:a="http://schemas.openxmlformats.org/drawingml/2006/main" noGrp="1"/>
          </p:cNvSpPr>
          <p:nvPr/>
        </p:nvSpPr>
        <p:spPr>
          <a:xfrm xmlns:a="http://schemas.openxmlformats.org/drawingml/2006/main">
            <a:off x="4429125" y="6934200"/>
            <a:ext cx="20764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4861"/>
          </a:bodyPr>
          <a:lstStyle xmlns:a="http://schemas.openxmlformats.org/drawingml/2006/main"/>
          <a:p xmlns:a="http://schemas.openxmlformats.org/drawingml/2006/main">
            <a:pPr algn="ctr">
              <a:lnSpc>
                <a:spcPct val="102000"/>
              </a:lnSpc>
              <a:buNone/>
              <a:defRPr sz="803" b="1">
                <a:solidFill>
                  <a:srgbClr val="EF7C00"/>
                </a:solidFill>
                <a:latin typeface="Aptos"/>
                <a:ea typeface="Aptos"/>
                <a:cs typeface="Aptos"/>
              </a:defRPr>
            </a:pPr>
            <a:r>
              <a:rPr sz="803" b="1">
                <a:solidFill>
                  <a:srgbClr val="EF7C00"/>
                </a:solidFill>
                <a:latin typeface="Aptos"/>
                <a:ea typeface="Aptos"/>
                <a:cs typeface="Aptos"/>
              </a:rPr>
              <a:t>PRIVACY BOUNDARY — ONLY AGGREGATE FEATURES LEAVE THE EDGE</a:t>
            </a:r>
          </a:p>
        </p:txBody>
      </p:sp>
      <p:sp>
        <p:nvSpPr>
          <p:cNvPr id="63" name="section-AI &amp; DATA INTELLIGENCE">
            <a:extLst xmlns:a="http://schemas.openxmlformats.org/drawingml/2006/main">
              <a:ext uri="{FF2B5EF4-FFF2-40B4-BE49-F238E27FC236}">
                <a16:creationId xmlns:a16="http://schemas.microsoft.com/office/drawing/2014/main" id="{A93E5231-8C2F-4855-AEBF-FFC29843A5CE}"/>
              </a:ext>
            </a:extLst>
          </p:cNvPr>
          <p:cNvSpPr>
            <a:spLocks xmlns:a="http://schemas.openxmlformats.org/drawingml/2006/main" noGrp="1"/>
          </p:cNvSpPr>
          <p:nvPr/>
        </p:nvSpPr>
        <p:spPr>
          <a:xfrm xmlns:a="http://schemas.openxmlformats.org/drawingml/2006/main">
            <a:off x="438150" y="7086600"/>
            <a:ext cx="3390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466"/>
          </a:bodyPr>
          <a:lstStyle xmlns:a="http://schemas.openxmlformats.org/drawingml/2006/main"/>
          <a:p xmlns:a="http://schemas.openxmlformats.org/drawingml/2006/main">
            <a:pPr algn="l">
              <a:lnSpc>
                <a:spcPct val="100000"/>
              </a:lnSpc>
              <a:buNone/>
              <a:defRPr sz="1538" b="1">
                <a:solidFill>
                  <a:srgbClr val="003D7C"/>
                </a:solidFill>
                <a:latin typeface="Aptos"/>
                <a:ea typeface="Aptos"/>
                <a:cs typeface="Aptos"/>
              </a:defRPr>
            </a:pPr>
            <a:r>
              <a:rPr sz="1538" b="1">
                <a:solidFill>
                  <a:srgbClr val="003D7C"/>
                </a:solidFill>
                <a:latin typeface="Aptos"/>
                <a:ea typeface="Aptos"/>
                <a:cs typeface="Aptos"/>
              </a:rPr>
              <a:t>AI &amp; DATA INTELLIGENCE</a:t>
            </a:r>
          </a:p>
        </p:txBody>
      </p:sp>
      <p:sp>
        <p:nvSpPr>
          <p:cNvPr id="64" name="rule-AI &amp; DATA INTELLIGENCE">
            <a:extLst xmlns:a="http://schemas.openxmlformats.org/drawingml/2006/main">
              <a:ext uri="{FF2B5EF4-FFF2-40B4-BE49-F238E27FC236}">
                <a16:creationId xmlns:a16="http://schemas.microsoft.com/office/drawing/2014/main" id="{DC92267B-A5E3-4C95-BD9D-1D28B8D7696A}"/>
              </a:ext>
            </a:extLst>
          </p:cNvPr>
          <p:cNvSpPr>
            <a:spLocks xmlns:a="http://schemas.openxmlformats.org/drawingml/2006/main" noGrp="1"/>
          </p:cNvSpPr>
          <p:nvPr/>
        </p:nvSpPr>
        <p:spPr>
          <a:xfrm xmlns:a="http://schemas.openxmlformats.org/drawingml/2006/main">
            <a:off x="438150" y="7315200"/>
            <a:ext cx="3390900" cy="0"/>
          </a:xfrm>
          <a:prstGeom xmlns:a="http://schemas.openxmlformats.org/drawingml/2006/main" prst="line">
            <a:avLst/>
          </a:prstGeom>
          <a:noFill xmlns:a="http://schemas.openxmlformats.org/drawingml/2006/main"/>
          <a:ln xmlns:a="http://schemas.openxmlformats.org/drawingml/2006/main" w="9525">
            <a:solidFill>
              <a:srgbClr val="CAD4DE"/>
            </a:solidFill>
            <a:prstDash val="solid"/>
          </a:ln>
        </p:spPr>
      </p:sp>
      <p:sp>
        <p:nvSpPr>
          <p:cNvPr id="65" name="accent-AI &amp; DATA INTELLIGENCE">
            <a:extLst xmlns:a="http://schemas.openxmlformats.org/drawingml/2006/main">
              <a:ext uri="{FF2B5EF4-FFF2-40B4-BE49-F238E27FC236}">
                <a16:creationId xmlns:a16="http://schemas.microsoft.com/office/drawing/2014/main" id="{56AB21DD-81C8-45F6-A770-923EB6C52F3A}"/>
              </a:ext>
            </a:extLst>
          </p:cNvPr>
          <p:cNvSpPr>
            <a:spLocks xmlns:a="http://schemas.openxmlformats.org/drawingml/2006/main" noGrp="1"/>
          </p:cNvSpPr>
          <p:nvPr/>
        </p:nvSpPr>
        <p:spPr>
          <a:xfrm xmlns:a="http://schemas.openxmlformats.org/drawingml/2006/main">
            <a:off x="438150" y="7315200"/>
            <a:ext cx="552450" cy="0"/>
          </a:xfrm>
          <a:prstGeom xmlns:a="http://schemas.openxmlformats.org/drawingml/2006/main" prst="line">
            <a:avLst/>
          </a:prstGeom>
          <a:noFill xmlns:a="http://schemas.openxmlformats.org/drawingml/2006/main"/>
          <a:ln xmlns:a="http://schemas.openxmlformats.org/drawingml/2006/main" w="28575">
            <a:solidFill>
              <a:srgbClr val="EF7C00"/>
            </a:solidFill>
            <a:prstDash val="solid"/>
          </a:ln>
        </p:spPr>
      </p:sp>
      <p:sp>
        <p:nvSpPr>
          <p:cNvPr id="66" name="room-state-tag-bg">
            <a:extLst xmlns:a="http://schemas.openxmlformats.org/drawingml/2006/main">
              <a:ext uri="{FF2B5EF4-FFF2-40B4-BE49-F238E27FC236}">
                <a16:creationId xmlns:a16="http://schemas.microsoft.com/office/drawing/2014/main" id="{802CD6F7-3094-40F5-B80C-9BCD60C56710}"/>
              </a:ext>
            </a:extLst>
          </p:cNvPr>
          <p:cNvSpPr>
            <a:spLocks xmlns:a="http://schemas.openxmlformats.org/drawingml/2006/main" noGrp="1"/>
          </p:cNvSpPr>
          <p:nvPr/>
        </p:nvSpPr>
        <p:spPr>
          <a:xfrm xmlns:a="http://schemas.openxmlformats.org/drawingml/2006/main">
            <a:off x="438150" y="7400925"/>
            <a:ext cx="781050" cy="171450"/>
          </a:xfrm>
          <a:prstGeom xmlns:a="http://schemas.openxmlformats.org/drawingml/2006/main" prst="roundRect">
            <a:avLst>
              <a:gd name="adj" fmla="val 50000"/>
            </a:avLst>
          </a:prstGeom>
          <a:solidFill xmlns:a="http://schemas.openxmlformats.org/drawingml/2006/main">
            <a:srgbClr val="FFF4D5"/>
          </a:solidFill>
          <a:ln xmlns:a="http://schemas.openxmlformats.org/drawingml/2006/main" w="7620">
            <a:solidFill>
              <a:srgbClr val="986400"/>
            </a:solidFill>
            <a:prstDash val="solid"/>
          </a:ln>
        </p:spPr>
      </p:sp>
      <p:sp>
        <p:nvSpPr>
          <p:cNvPr id="67" name="room-state-tag">
            <a:extLst xmlns:a="http://schemas.openxmlformats.org/drawingml/2006/main">
              <a:ext uri="{FF2B5EF4-FFF2-40B4-BE49-F238E27FC236}">
                <a16:creationId xmlns:a16="http://schemas.microsoft.com/office/drawing/2014/main" id="{687456B9-F2CE-4AA5-BFA8-977D4563AA91}"/>
              </a:ext>
            </a:extLst>
          </p:cNvPr>
          <p:cNvSpPr>
            <a:spLocks xmlns:a="http://schemas.openxmlformats.org/drawingml/2006/main" noGrp="1"/>
          </p:cNvSpPr>
          <p:nvPr/>
        </p:nvSpPr>
        <p:spPr>
          <a:xfrm xmlns:a="http://schemas.openxmlformats.org/drawingml/2006/main">
            <a:off x="476250" y="7410450"/>
            <a:ext cx="7048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788" b="1">
                <a:solidFill>
                  <a:srgbClr val="986400"/>
                </a:solidFill>
                <a:latin typeface="Aptos"/>
                <a:ea typeface="Aptos"/>
                <a:cs typeface="Aptos"/>
              </a:defRPr>
            </a:pPr>
            <a:r>
              <a:rPr sz="788" b="1">
                <a:solidFill>
                  <a:srgbClr val="986400"/>
                </a:solidFill>
                <a:latin typeface="Aptos"/>
                <a:ea typeface="Aptos"/>
                <a:cs typeface="Aptos"/>
              </a:rPr>
              <a:t>PROTOTYPE</a:t>
            </a:r>
          </a:p>
        </p:txBody>
      </p:sp>
      <p:sp>
        <p:nvSpPr>
          <p:cNvPr id="68" name="room-state-head">
            <a:extLst xmlns:a="http://schemas.openxmlformats.org/drawingml/2006/main">
              <a:ext uri="{FF2B5EF4-FFF2-40B4-BE49-F238E27FC236}">
                <a16:creationId xmlns:a16="http://schemas.microsoft.com/office/drawing/2014/main" id="{ECC43E24-D256-4AB5-B31E-B922AD70D9E9}"/>
              </a:ext>
            </a:extLst>
          </p:cNvPr>
          <p:cNvSpPr>
            <a:spLocks xmlns:a="http://schemas.openxmlformats.org/drawingml/2006/main" noGrp="1"/>
          </p:cNvSpPr>
          <p:nvPr/>
        </p:nvSpPr>
        <p:spPr>
          <a:xfrm xmlns:a="http://schemas.openxmlformats.org/drawingml/2006/main">
            <a:off x="1304925" y="7400925"/>
            <a:ext cx="2390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402" b="1">
                <a:solidFill>
                  <a:srgbClr val="142433"/>
                </a:solidFill>
                <a:latin typeface="Aptos"/>
                <a:ea typeface="Aptos"/>
                <a:cs typeface="Aptos"/>
              </a:defRPr>
            </a:pPr>
            <a:r>
              <a:rPr sz="1402" b="1">
                <a:solidFill>
                  <a:srgbClr val="142433"/>
                </a:solidFill>
                <a:latin typeface="Aptos"/>
                <a:ea typeface="Aptos"/>
                <a:cs typeface="Aptos"/>
              </a:rPr>
              <a:t>Room-state prototype</a:t>
            </a:r>
          </a:p>
        </p:txBody>
      </p:sp>
      <p:sp>
        <p:nvSpPr>
          <p:cNvPr id="69" name="forecast-tag-bg">
            <a:extLst xmlns:a="http://schemas.openxmlformats.org/drawingml/2006/main">
              <a:ext uri="{FF2B5EF4-FFF2-40B4-BE49-F238E27FC236}">
                <a16:creationId xmlns:a16="http://schemas.microsoft.com/office/drawing/2014/main" id="{FE863510-F6D4-4FB1-83FD-E98F29EAD0D9}"/>
              </a:ext>
            </a:extLst>
          </p:cNvPr>
          <p:cNvSpPr>
            <a:spLocks xmlns:a="http://schemas.openxmlformats.org/drawingml/2006/main" noGrp="1"/>
          </p:cNvSpPr>
          <p:nvPr/>
        </p:nvSpPr>
        <p:spPr>
          <a:xfrm xmlns:a="http://schemas.openxmlformats.org/drawingml/2006/main">
            <a:off x="438150" y="7753350"/>
            <a:ext cx="781050" cy="171450"/>
          </a:xfrm>
          <a:prstGeom xmlns:a="http://schemas.openxmlformats.org/drawingml/2006/main" prst="roundRect">
            <a:avLst>
              <a:gd name="adj" fmla="val 50000"/>
            </a:avLst>
          </a:prstGeom>
          <a:solidFill xmlns:a="http://schemas.openxmlformats.org/drawingml/2006/main">
            <a:srgbClr val="E6F4F0"/>
          </a:solidFill>
          <a:ln xmlns:a="http://schemas.openxmlformats.org/drawingml/2006/main" w="7620">
            <a:solidFill>
              <a:srgbClr val="0B776A"/>
            </a:solidFill>
            <a:prstDash val="solid"/>
          </a:ln>
        </p:spPr>
      </p:sp>
      <p:sp>
        <p:nvSpPr>
          <p:cNvPr id="70" name="forecast-tag">
            <a:extLst xmlns:a="http://schemas.openxmlformats.org/drawingml/2006/main">
              <a:ext uri="{FF2B5EF4-FFF2-40B4-BE49-F238E27FC236}">
                <a16:creationId xmlns:a16="http://schemas.microsoft.com/office/drawing/2014/main" id="{D0E06AC9-DBC3-4B62-8126-43DF78070C55}"/>
              </a:ext>
            </a:extLst>
          </p:cNvPr>
          <p:cNvSpPr>
            <a:spLocks xmlns:a="http://schemas.openxmlformats.org/drawingml/2006/main" noGrp="1"/>
          </p:cNvSpPr>
          <p:nvPr/>
        </p:nvSpPr>
        <p:spPr>
          <a:xfrm xmlns:a="http://schemas.openxmlformats.org/drawingml/2006/main">
            <a:off x="476250" y="7762875"/>
            <a:ext cx="7048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788" b="1">
                <a:solidFill>
                  <a:srgbClr val="0B776A"/>
                </a:solidFill>
                <a:latin typeface="Aptos"/>
                <a:ea typeface="Aptos"/>
                <a:cs typeface="Aptos"/>
              </a:defRPr>
            </a:pPr>
            <a:r>
              <a:rPr sz="788" b="1">
                <a:solidFill>
                  <a:srgbClr val="0B776A"/>
                </a:solidFill>
                <a:latin typeface="Aptos"/>
                <a:ea typeface="Aptos"/>
                <a:cs typeface="Aptos"/>
              </a:rPr>
              <a:t>IMPLEMENTED</a:t>
            </a:r>
          </a:p>
        </p:txBody>
      </p:sp>
      <p:sp>
        <p:nvSpPr>
          <p:cNvPr id="71" name="forecast-head">
            <a:extLst xmlns:a="http://schemas.openxmlformats.org/drawingml/2006/main">
              <a:ext uri="{FF2B5EF4-FFF2-40B4-BE49-F238E27FC236}">
                <a16:creationId xmlns:a16="http://schemas.microsoft.com/office/drawing/2014/main" id="{8BC23D9A-BF0B-43BC-9986-D2BB70D7E936}"/>
              </a:ext>
            </a:extLst>
          </p:cNvPr>
          <p:cNvSpPr>
            <a:spLocks xmlns:a="http://schemas.openxmlformats.org/drawingml/2006/main" noGrp="1"/>
          </p:cNvSpPr>
          <p:nvPr/>
        </p:nvSpPr>
        <p:spPr>
          <a:xfrm xmlns:a="http://schemas.openxmlformats.org/drawingml/2006/main">
            <a:off x="1304925" y="7753350"/>
            <a:ext cx="2390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402" b="1">
                <a:solidFill>
                  <a:srgbClr val="142433"/>
                </a:solidFill>
                <a:latin typeface="Aptos"/>
                <a:ea typeface="Aptos"/>
                <a:cs typeface="Aptos"/>
              </a:defRPr>
            </a:pPr>
            <a:r>
              <a:rPr sz="1402" b="1">
                <a:solidFill>
                  <a:srgbClr val="142433"/>
                </a:solidFill>
                <a:latin typeface="Aptos"/>
                <a:ea typeface="Aptos"/>
                <a:cs typeface="Aptos"/>
              </a:rPr>
              <a:t>Forecast APIs</a:t>
            </a:r>
          </a:p>
        </p:txBody>
      </p:sp>
      <p:sp>
        <p:nvSpPr>
          <p:cNvPr id="72" name="recommendation-tag-bg">
            <a:extLst xmlns:a="http://schemas.openxmlformats.org/drawingml/2006/main">
              <a:ext uri="{FF2B5EF4-FFF2-40B4-BE49-F238E27FC236}">
                <a16:creationId xmlns:a16="http://schemas.microsoft.com/office/drawing/2014/main" id="{159B5126-902E-4A27-8E06-3FA8D10C41F7}"/>
              </a:ext>
            </a:extLst>
          </p:cNvPr>
          <p:cNvSpPr>
            <a:spLocks xmlns:a="http://schemas.openxmlformats.org/drawingml/2006/main" noGrp="1"/>
          </p:cNvSpPr>
          <p:nvPr/>
        </p:nvSpPr>
        <p:spPr>
          <a:xfrm xmlns:a="http://schemas.openxmlformats.org/drawingml/2006/main">
            <a:off x="438150" y="8105775"/>
            <a:ext cx="781050" cy="171450"/>
          </a:xfrm>
          <a:prstGeom xmlns:a="http://schemas.openxmlformats.org/drawingml/2006/main" prst="roundRect">
            <a:avLst>
              <a:gd name="adj" fmla="val 50000"/>
            </a:avLst>
          </a:prstGeom>
          <a:solidFill xmlns:a="http://schemas.openxmlformats.org/drawingml/2006/main">
            <a:srgbClr val="F9E9E7"/>
          </a:solidFill>
          <a:ln xmlns:a="http://schemas.openxmlformats.org/drawingml/2006/main" w="7620">
            <a:solidFill>
              <a:srgbClr val="A63D40"/>
            </a:solidFill>
            <a:prstDash val="solid"/>
          </a:ln>
        </p:spPr>
      </p:sp>
      <p:sp>
        <p:nvSpPr>
          <p:cNvPr id="73" name="recommendation-tag">
            <a:extLst xmlns:a="http://schemas.openxmlformats.org/drawingml/2006/main">
              <a:ext uri="{FF2B5EF4-FFF2-40B4-BE49-F238E27FC236}">
                <a16:creationId xmlns:a16="http://schemas.microsoft.com/office/drawing/2014/main" id="{4FC44E1C-49C1-42D4-AB79-6D186CB0F09E}"/>
              </a:ext>
            </a:extLst>
          </p:cNvPr>
          <p:cNvSpPr>
            <a:spLocks xmlns:a="http://schemas.openxmlformats.org/drawingml/2006/main" noGrp="1"/>
          </p:cNvSpPr>
          <p:nvPr/>
        </p:nvSpPr>
        <p:spPr>
          <a:xfrm xmlns:a="http://schemas.openxmlformats.org/drawingml/2006/main">
            <a:off x="476250" y="8115300"/>
            <a:ext cx="7048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788" b="1">
                <a:solidFill>
                  <a:srgbClr val="A63D40"/>
                </a:solidFill>
                <a:latin typeface="Aptos"/>
                <a:ea typeface="Aptos"/>
                <a:cs typeface="Aptos"/>
              </a:defRPr>
            </a:pPr>
            <a:r>
              <a:rPr sz="788" b="1">
                <a:solidFill>
                  <a:srgbClr val="A63D40"/>
                </a:solidFill>
                <a:latin typeface="Aptos"/>
                <a:ea typeface="Aptos"/>
                <a:cs typeface="Aptos"/>
              </a:rPr>
              <a:t>IN PROGRESS</a:t>
            </a:r>
          </a:p>
        </p:txBody>
      </p:sp>
      <p:sp>
        <p:nvSpPr>
          <p:cNvPr id="74" name="recommendation-head">
            <a:extLst xmlns:a="http://schemas.openxmlformats.org/drawingml/2006/main">
              <a:ext uri="{FF2B5EF4-FFF2-40B4-BE49-F238E27FC236}">
                <a16:creationId xmlns:a16="http://schemas.microsoft.com/office/drawing/2014/main" id="{948EFC3D-0E85-4BAE-AD92-A564E9B1D482}"/>
              </a:ext>
            </a:extLst>
          </p:cNvPr>
          <p:cNvSpPr>
            <a:spLocks xmlns:a="http://schemas.openxmlformats.org/drawingml/2006/main" noGrp="1"/>
          </p:cNvSpPr>
          <p:nvPr/>
        </p:nvSpPr>
        <p:spPr>
          <a:xfrm xmlns:a="http://schemas.openxmlformats.org/drawingml/2006/main">
            <a:off x="1304925" y="8105775"/>
            <a:ext cx="2390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402" b="1">
                <a:solidFill>
                  <a:srgbClr val="142433"/>
                </a:solidFill>
                <a:latin typeface="Aptos"/>
                <a:ea typeface="Aptos"/>
                <a:cs typeface="Aptos"/>
              </a:defRPr>
            </a:pPr>
            <a:r>
              <a:rPr sz="1402" b="1">
                <a:solidFill>
                  <a:srgbClr val="142433"/>
                </a:solidFill>
                <a:latin typeface="Aptos"/>
                <a:ea typeface="Aptos"/>
                <a:cs typeface="Aptos"/>
              </a:rPr>
              <a:t>Recommendation workflow</a:t>
            </a:r>
          </a:p>
        </p:txBody>
      </p:sp>
      <p:sp>
        <p:nvSpPr>
          <p:cNvPr id="75" name="ai-privacy-inputs">
            <a:extLst xmlns:a="http://schemas.openxmlformats.org/drawingml/2006/main">
              <a:ext uri="{FF2B5EF4-FFF2-40B4-BE49-F238E27FC236}">
                <a16:creationId xmlns:a16="http://schemas.microsoft.com/office/drawing/2014/main" id="{3292BD1A-2E51-4980-8F01-C1AA6B7379E6}"/>
              </a:ext>
            </a:extLst>
          </p:cNvPr>
          <p:cNvSpPr>
            <a:spLocks xmlns:a="http://schemas.openxmlformats.org/drawingml/2006/main" noGrp="1"/>
          </p:cNvSpPr>
          <p:nvPr/>
        </p:nvSpPr>
        <p:spPr>
          <a:xfrm xmlns:a="http://schemas.openxmlformats.org/drawingml/2006/main">
            <a:off x="438150" y="8391525"/>
            <a:ext cx="32575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402" b="1">
                <a:solidFill>
                  <a:srgbClr val="526477"/>
                </a:solidFill>
                <a:latin typeface="Aptos"/>
                <a:ea typeface="Aptos"/>
                <a:cs typeface="Aptos"/>
              </a:defRPr>
            </a:pPr>
            <a:r>
              <a:rPr sz="1402" b="1">
                <a:solidFill>
                  <a:srgbClr val="526477"/>
                </a:solidFill>
                <a:latin typeface="Aptos"/>
                <a:ea typeface="Aptos"/>
                <a:cs typeface="Aptos"/>
              </a:rPr>
              <a:t>Anonymous summaries only — no faces, identities or speech content.</a:t>
            </a:r>
          </a:p>
        </p:txBody>
      </p:sp>
      <p:sp>
        <p:nvSpPr>
          <p:cNvPr id="76" name="section-RESULTS / VALIDATION">
            <a:extLst xmlns:a="http://schemas.openxmlformats.org/drawingml/2006/main">
              <a:ext uri="{FF2B5EF4-FFF2-40B4-BE49-F238E27FC236}">
                <a16:creationId xmlns:a16="http://schemas.microsoft.com/office/drawing/2014/main" id="{2F681664-4486-4D4C-990B-F0E1B8534C47}"/>
              </a:ext>
            </a:extLst>
          </p:cNvPr>
          <p:cNvSpPr>
            <a:spLocks xmlns:a="http://schemas.openxmlformats.org/drawingml/2006/main" noGrp="1"/>
          </p:cNvSpPr>
          <p:nvPr/>
        </p:nvSpPr>
        <p:spPr>
          <a:xfrm xmlns:a="http://schemas.openxmlformats.org/drawingml/2006/main">
            <a:off x="4019550" y="7086600"/>
            <a:ext cx="31051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466"/>
          </a:bodyPr>
          <a:lstStyle xmlns:a="http://schemas.openxmlformats.org/drawingml/2006/main"/>
          <a:p xmlns:a="http://schemas.openxmlformats.org/drawingml/2006/main">
            <a:pPr algn="l">
              <a:lnSpc>
                <a:spcPct val="100000"/>
              </a:lnSpc>
              <a:buNone/>
              <a:defRPr sz="1538" b="1">
                <a:solidFill>
                  <a:srgbClr val="003D7C"/>
                </a:solidFill>
                <a:latin typeface="Aptos"/>
                <a:ea typeface="Aptos"/>
                <a:cs typeface="Aptos"/>
              </a:defRPr>
            </a:pPr>
            <a:r>
              <a:rPr sz="1538" b="1">
                <a:solidFill>
                  <a:srgbClr val="003D7C"/>
                </a:solidFill>
                <a:latin typeface="Aptos"/>
                <a:ea typeface="Aptos"/>
                <a:cs typeface="Aptos"/>
              </a:rPr>
              <a:t>RESULTS / VALIDATION</a:t>
            </a:r>
          </a:p>
        </p:txBody>
      </p:sp>
      <p:sp>
        <p:nvSpPr>
          <p:cNvPr id="77" name="rule-RESULTS / VALIDATION">
            <a:extLst xmlns:a="http://schemas.openxmlformats.org/drawingml/2006/main">
              <a:ext uri="{FF2B5EF4-FFF2-40B4-BE49-F238E27FC236}">
                <a16:creationId xmlns:a16="http://schemas.microsoft.com/office/drawing/2014/main" id="{7735E60F-0108-43AF-99CE-3F3596FDEC00}"/>
              </a:ext>
            </a:extLst>
          </p:cNvPr>
          <p:cNvSpPr>
            <a:spLocks xmlns:a="http://schemas.openxmlformats.org/drawingml/2006/main" noGrp="1"/>
          </p:cNvSpPr>
          <p:nvPr/>
        </p:nvSpPr>
        <p:spPr>
          <a:xfrm xmlns:a="http://schemas.openxmlformats.org/drawingml/2006/main">
            <a:off x="4019550" y="7315200"/>
            <a:ext cx="3105150" cy="0"/>
          </a:xfrm>
          <a:prstGeom xmlns:a="http://schemas.openxmlformats.org/drawingml/2006/main" prst="line">
            <a:avLst/>
          </a:prstGeom>
          <a:noFill xmlns:a="http://schemas.openxmlformats.org/drawingml/2006/main"/>
          <a:ln xmlns:a="http://schemas.openxmlformats.org/drawingml/2006/main" w="9525">
            <a:solidFill>
              <a:srgbClr val="CAD4DE"/>
            </a:solidFill>
            <a:prstDash val="solid"/>
          </a:ln>
        </p:spPr>
      </p:sp>
      <p:sp>
        <p:nvSpPr>
          <p:cNvPr id="78" name="accent-RESULTS / VALIDATION">
            <a:extLst xmlns:a="http://schemas.openxmlformats.org/drawingml/2006/main">
              <a:ext uri="{FF2B5EF4-FFF2-40B4-BE49-F238E27FC236}">
                <a16:creationId xmlns:a16="http://schemas.microsoft.com/office/drawing/2014/main" id="{3CCF3D7B-05FE-4A6F-A703-D8B273781783}"/>
              </a:ext>
            </a:extLst>
          </p:cNvPr>
          <p:cNvSpPr>
            <a:spLocks xmlns:a="http://schemas.openxmlformats.org/drawingml/2006/main" noGrp="1"/>
          </p:cNvSpPr>
          <p:nvPr/>
        </p:nvSpPr>
        <p:spPr>
          <a:xfrm xmlns:a="http://schemas.openxmlformats.org/drawingml/2006/main">
            <a:off x="4019550" y="7315200"/>
            <a:ext cx="552450" cy="0"/>
          </a:xfrm>
          <a:prstGeom xmlns:a="http://schemas.openxmlformats.org/drawingml/2006/main" prst="line">
            <a:avLst/>
          </a:prstGeom>
          <a:noFill xmlns:a="http://schemas.openxmlformats.org/drawingml/2006/main"/>
          <a:ln xmlns:a="http://schemas.openxmlformats.org/drawingml/2006/main" w="28575">
            <a:solidFill>
              <a:srgbClr val="EF7C00"/>
            </a:solidFill>
            <a:prstDash val="solid"/>
          </a:ln>
        </p:spPr>
      </p:sp>
      <p:sp>
        <p:nvSpPr>
          <p:cNvPr id="79" name="metric-0">
            <a:extLst xmlns:a="http://schemas.openxmlformats.org/drawingml/2006/main">
              <a:ext uri="{FF2B5EF4-FFF2-40B4-BE49-F238E27FC236}">
                <a16:creationId xmlns:a16="http://schemas.microsoft.com/office/drawing/2014/main" id="{415B2B5A-21AE-41DD-B818-961EC4C0B630}"/>
              </a:ext>
            </a:extLst>
          </p:cNvPr>
          <p:cNvSpPr>
            <a:spLocks xmlns:a="http://schemas.openxmlformats.org/drawingml/2006/main" noGrp="1"/>
          </p:cNvSpPr>
          <p:nvPr/>
        </p:nvSpPr>
        <p:spPr>
          <a:xfrm xmlns:a="http://schemas.openxmlformats.org/drawingml/2006/main">
            <a:off x="4019550" y="7400925"/>
            <a:ext cx="89535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CAD4DE"/>
            </a:solidFill>
            <a:prstDash val="solid"/>
          </a:ln>
        </p:spPr>
      </p:sp>
      <p:sp>
        <p:nvSpPr>
          <p:cNvPr id="80" name="metric-0-value">
            <a:extLst xmlns:a="http://schemas.openxmlformats.org/drawingml/2006/main">
              <a:ext uri="{FF2B5EF4-FFF2-40B4-BE49-F238E27FC236}">
                <a16:creationId xmlns:a16="http://schemas.microsoft.com/office/drawing/2014/main" id="{064AB1B7-AC93-4104-B456-F74BA8898B3B}"/>
              </a:ext>
            </a:extLst>
          </p:cNvPr>
          <p:cNvSpPr>
            <a:spLocks xmlns:a="http://schemas.openxmlformats.org/drawingml/2006/main" noGrp="1"/>
          </p:cNvSpPr>
          <p:nvPr/>
        </p:nvSpPr>
        <p:spPr>
          <a:xfrm xmlns:a="http://schemas.openxmlformats.org/drawingml/2006/main">
            <a:off x="4076700" y="748665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103"/>
          </a:bodyPr>
          <a:lstStyle xmlns:a="http://schemas.openxmlformats.org/drawingml/2006/main"/>
          <a:p xmlns:a="http://schemas.openxmlformats.org/drawingml/2006/main">
            <a:pPr algn="ctr">
              <a:lnSpc>
                <a:spcPct val="102000"/>
              </a:lnSpc>
              <a:buNone/>
              <a:defRPr sz="1800" b="1">
                <a:solidFill>
                  <a:srgbClr val="003D7C"/>
                </a:solidFill>
                <a:latin typeface="Aptos"/>
                <a:ea typeface="Aptos"/>
                <a:cs typeface="Aptos"/>
              </a:defRPr>
            </a:pPr>
            <a:r>
              <a:rPr sz="1800" b="1">
                <a:solidFill>
                  <a:srgbClr val="003D7C"/>
                </a:solidFill>
                <a:latin typeface="Aptos"/>
                <a:ea typeface="Aptos"/>
                <a:cs typeface="Aptos"/>
              </a:rPr>
              <a:t>4</a:t>
            </a:r>
          </a:p>
        </p:txBody>
      </p:sp>
      <p:sp>
        <p:nvSpPr>
          <p:cNvPr id="81" name="metric-0-label">
            <a:extLst xmlns:a="http://schemas.openxmlformats.org/drawingml/2006/main">
              <a:ext uri="{FF2B5EF4-FFF2-40B4-BE49-F238E27FC236}">
                <a16:creationId xmlns:a16="http://schemas.microsoft.com/office/drawing/2014/main" id="{D4CAAB75-DE0B-431D-9111-73FAD413F73A}"/>
              </a:ext>
            </a:extLst>
          </p:cNvPr>
          <p:cNvSpPr>
            <a:spLocks xmlns:a="http://schemas.openxmlformats.org/drawingml/2006/main" noGrp="1"/>
          </p:cNvSpPr>
          <p:nvPr/>
        </p:nvSpPr>
        <p:spPr>
          <a:xfrm xmlns:a="http://schemas.openxmlformats.org/drawingml/2006/main">
            <a:off x="4067175" y="77533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670"/>
          </a:bodyPr>
          <a:lstStyle xmlns:a="http://schemas.openxmlformats.org/drawingml/2006/main"/>
          <a:p xmlns:a="http://schemas.openxmlformats.org/drawingml/2006/main">
            <a:pPr algn="ctr">
              <a:lnSpc>
                <a:spcPct val="92000"/>
              </a:lnSpc>
              <a:buNone/>
              <a:defRPr sz="915" b="0">
                <a:solidFill>
                  <a:srgbClr val="526477"/>
                </a:solidFill>
                <a:latin typeface="Aptos"/>
                <a:ea typeface="Aptos"/>
                <a:cs typeface="Aptos"/>
              </a:defRPr>
            </a:pPr>
            <a:r>
              <a:rPr sz="915" b="0">
                <a:solidFill>
                  <a:srgbClr val="526477"/>
                </a:solidFill>
                <a:latin typeface="Aptos"/>
                <a:ea typeface="Aptos"/>
                <a:cs typeface="Aptos"/>
              </a:rPr>
              <a:t>real scenario</a:t>
            </a:r>
          </a:p>
          <a:p xmlns:a="http://schemas.openxmlformats.org/drawingml/2006/main">
            <a:pPr algn="ctr">
              <a:lnSpc>
                <a:spcPct val="92000"/>
              </a:lnSpc>
              <a:buNone/>
              <a:defRPr sz="915" b="0">
                <a:solidFill>
                  <a:srgbClr val="526477"/>
                </a:solidFill>
                <a:latin typeface="Aptos"/>
                <a:ea typeface="Aptos"/>
                <a:cs typeface="Aptos"/>
              </a:defRPr>
            </a:pPr>
            <a:r>
              <a:rPr sz="915" b="0">
                <a:solidFill>
                  <a:srgbClr val="526477"/>
                </a:solidFill>
                <a:latin typeface="Aptos"/>
                <a:ea typeface="Aptos"/>
                <a:cs typeface="Aptos"/>
              </a:rPr>
              <a:t>sessions</a:t>
            </a:r>
          </a:p>
        </p:txBody>
      </p:sp>
      <p:sp>
        <p:nvSpPr>
          <p:cNvPr id="82" name="metric-1">
            <a:extLst xmlns:a="http://schemas.openxmlformats.org/drawingml/2006/main">
              <a:ext uri="{FF2B5EF4-FFF2-40B4-BE49-F238E27FC236}">
                <a16:creationId xmlns:a16="http://schemas.microsoft.com/office/drawing/2014/main" id="{298561C0-64A8-42F8-823E-7755F31D4B0D}"/>
              </a:ext>
            </a:extLst>
          </p:cNvPr>
          <p:cNvSpPr>
            <a:spLocks xmlns:a="http://schemas.openxmlformats.org/drawingml/2006/main" noGrp="1"/>
          </p:cNvSpPr>
          <p:nvPr/>
        </p:nvSpPr>
        <p:spPr>
          <a:xfrm xmlns:a="http://schemas.openxmlformats.org/drawingml/2006/main">
            <a:off x="5019675" y="7400925"/>
            <a:ext cx="89535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CAD4DE"/>
            </a:solidFill>
            <a:prstDash val="solid"/>
          </a:ln>
        </p:spPr>
      </p:sp>
      <p:sp>
        <p:nvSpPr>
          <p:cNvPr id="83" name="metric-1-value">
            <a:extLst xmlns:a="http://schemas.openxmlformats.org/drawingml/2006/main">
              <a:ext uri="{FF2B5EF4-FFF2-40B4-BE49-F238E27FC236}">
                <a16:creationId xmlns:a16="http://schemas.microsoft.com/office/drawing/2014/main" id="{2CA411CA-2986-4D20-AE01-8E16186FCC88}"/>
              </a:ext>
            </a:extLst>
          </p:cNvPr>
          <p:cNvSpPr>
            <a:spLocks xmlns:a="http://schemas.openxmlformats.org/drawingml/2006/main" noGrp="1"/>
          </p:cNvSpPr>
          <p:nvPr/>
        </p:nvSpPr>
        <p:spPr>
          <a:xfrm xmlns:a="http://schemas.openxmlformats.org/drawingml/2006/main">
            <a:off x="5076825" y="748665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103"/>
          </a:bodyPr>
          <a:lstStyle xmlns:a="http://schemas.openxmlformats.org/drawingml/2006/main"/>
          <a:p xmlns:a="http://schemas.openxmlformats.org/drawingml/2006/main">
            <a:pPr algn="ctr">
              <a:lnSpc>
                <a:spcPct val="102000"/>
              </a:lnSpc>
              <a:buNone/>
              <a:defRPr sz="1800" b="1">
                <a:solidFill>
                  <a:srgbClr val="003D7C"/>
                </a:solidFill>
                <a:latin typeface="Aptos"/>
                <a:ea typeface="Aptos"/>
                <a:cs typeface="Aptos"/>
              </a:defRPr>
            </a:pPr>
            <a:r>
              <a:rPr sz="1800" b="1">
                <a:solidFill>
                  <a:srgbClr val="003D7C"/>
                </a:solidFill>
                <a:latin typeface="Aptos"/>
                <a:ea typeface="Aptos"/>
                <a:cs typeface="Aptos"/>
              </a:rPr>
              <a:t>36</a:t>
            </a:r>
          </a:p>
        </p:txBody>
      </p:sp>
      <p:sp>
        <p:nvSpPr>
          <p:cNvPr id="84" name="metric-1-label">
            <a:extLst xmlns:a="http://schemas.openxmlformats.org/drawingml/2006/main">
              <a:ext uri="{FF2B5EF4-FFF2-40B4-BE49-F238E27FC236}">
                <a16:creationId xmlns:a16="http://schemas.microsoft.com/office/drawing/2014/main" id="{DAC7AF47-09AF-483F-BCEF-9F328861BAEA}"/>
              </a:ext>
            </a:extLst>
          </p:cNvPr>
          <p:cNvSpPr>
            <a:spLocks xmlns:a="http://schemas.openxmlformats.org/drawingml/2006/main" noGrp="1"/>
          </p:cNvSpPr>
          <p:nvPr/>
        </p:nvSpPr>
        <p:spPr>
          <a:xfrm xmlns:a="http://schemas.openxmlformats.org/drawingml/2006/main">
            <a:off x="5067300" y="77533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670"/>
          </a:bodyPr>
          <a:lstStyle xmlns:a="http://schemas.openxmlformats.org/drawingml/2006/main"/>
          <a:p xmlns:a="http://schemas.openxmlformats.org/drawingml/2006/main">
            <a:pPr algn="ctr">
              <a:lnSpc>
                <a:spcPct val="92000"/>
              </a:lnSpc>
              <a:buNone/>
              <a:defRPr sz="915" b="0">
                <a:solidFill>
                  <a:srgbClr val="526477"/>
                </a:solidFill>
                <a:latin typeface="Aptos"/>
                <a:ea typeface="Aptos"/>
                <a:cs typeface="Aptos"/>
              </a:defRPr>
            </a:pPr>
            <a:r>
              <a:rPr sz="915" b="0">
                <a:solidFill>
                  <a:srgbClr val="526477"/>
                </a:solidFill>
                <a:latin typeface="Aptos"/>
                <a:ea typeface="Aptos"/>
                <a:cs typeface="Aptos"/>
              </a:rPr>
              <a:t>five-second</a:t>
            </a:r>
          </a:p>
          <a:p xmlns:a="http://schemas.openxmlformats.org/drawingml/2006/main">
            <a:pPr algn="ctr">
              <a:lnSpc>
                <a:spcPct val="92000"/>
              </a:lnSpc>
              <a:buNone/>
              <a:defRPr sz="915" b="0">
                <a:solidFill>
                  <a:srgbClr val="526477"/>
                </a:solidFill>
                <a:latin typeface="Aptos"/>
                <a:ea typeface="Aptos"/>
                <a:cs typeface="Aptos"/>
              </a:defRPr>
            </a:pPr>
            <a:r>
              <a:rPr sz="915" b="0">
                <a:solidFill>
                  <a:srgbClr val="526477"/>
                </a:solidFill>
                <a:latin typeface="Aptos"/>
                <a:ea typeface="Aptos"/>
                <a:cs typeface="Aptos"/>
              </a:rPr>
              <a:t>windows</a:t>
            </a:r>
          </a:p>
        </p:txBody>
      </p:sp>
      <p:sp>
        <p:nvSpPr>
          <p:cNvPr id="85" name="metric-2">
            <a:extLst xmlns:a="http://schemas.openxmlformats.org/drawingml/2006/main">
              <a:ext uri="{FF2B5EF4-FFF2-40B4-BE49-F238E27FC236}">
                <a16:creationId xmlns:a16="http://schemas.microsoft.com/office/drawing/2014/main" id="{705AD722-43DD-4D88-A9AB-D88BE82C5646}"/>
              </a:ext>
            </a:extLst>
          </p:cNvPr>
          <p:cNvSpPr>
            <a:spLocks xmlns:a="http://schemas.openxmlformats.org/drawingml/2006/main" noGrp="1"/>
          </p:cNvSpPr>
          <p:nvPr/>
        </p:nvSpPr>
        <p:spPr>
          <a:xfrm xmlns:a="http://schemas.openxmlformats.org/drawingml/2006/main">
            <a:off x="6019800" y="7400925"/>
            <a:ext cx="110490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CAD4DE"/>
            </a:solidFill>
            <a:prstDash val="solid"/>
          </a:ln>
        </p:spPr>
      </p:sp>
      <p:sp>
        <p:nvSpPr>
          <p:cNvPr id="86" name="metric-2-value">
            <a:extLst xmlns:a="http://schemas.openxmlformats.org/drawingml/2006/main">
              <a:ext uri="{FF2B5EF4-FFF2-40B4-BE49-F238E27FC236}">
                <a16:creationId xmlns:a16="http://schemas.microsoft.com/office/drawing/2014/main" id="{48676465-6413-47E6-A3E9-3687259276C7}"/>
              </a:ext>
            </a:extLst>
          </p:cNvPr>
          <p:cNvSpPr>
            <a:spLocks xmlns:a="http://schemas.openxmlformats.org/drawingml/2006/main" noGrp="1"/>
          </p:cNvSpPr>
          <p:nvPr/>
        </p:nvSpPr>
        <p:spPr>
          <a:xfrm xmlns:a="http://schemas.openxmlformats.org/drawingml/2006/main">
            <a:off x="6076950" y="7486650"/>
            <a:ext cx="990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103"/>
          </a:bodyPr>
          <a:lstStyle xmlns:a="http://schemas.openxmlformats.org/drawingml/2006/main"/>
          <a:p xmlns:a="http://schemas.openxmlformats.org/drawingml/2006/main">
            <a:pPr algn="ctr">
              <a:lnSpc>
                <a:spcPct val="102000"/>
              </a:lnSpc>
              <a:buNone/>
              <a:defRPr sz="1800" b="1">
                <a:solidFill>
                  <a:srgbClr val="003D7C"/>
                </a:solidFill>
                <a:latin typeface="Aptos"/>
                <a:ea typeface="Aptos"/>
                <a:cs typeface="Aptos"/>
              </a:defRPr>
            </a:pPr>
            <a:r>
              <a:rPr sz="1800" b="1">
                <a:solidFill>
                  <a:srgbClr val="003D7C"/>
                </a:solidFill>
                <a:latin typeface="Aptos"/>
                <a:ea typeface="Aptos"/>
                <a:cs typeface="Aptos"/>
              </a:rPr>
              <a:t>176</a:t>
            </a:r>
          </a:p>
        </p:txBody>
      </p:sp>
      <p:sp>
        <p:nvSpPr>
          <p:cNvPr id="87" name="metric-2-label">
            <a:extLst xmlns:a="http://schemas.openxmlformats.org/drawingml/2006/main">
              <a:ext uri="{FF2B5EF4-FFF2-40B4-BE49-F238E27FC236}">
                <a16:creationId xmlns:a16="http://schemas.microsoft.com/office/drawing/2014/main" id="{9DC14A6F-252B-4D63-8EC1-13CBB2EB1929}"/>
              </a:ext>
            </a:extLst>
          </p:cNvPr>
          <p:cNvSpPr>
            <a:spLocks xmlns:a="http://schemas.openxmlformats.org/drawingml/2006/main" noGrp="1"/>
          </p:cNvSpPr>
          <p:nvPr/>
        </p:nvSpPr>
        <p:spPr>
          <a:xfrm xmlns:a="http://schemas.openxmlformats.org/drawingml/2006/main">
            <a:off x="6067425" y="775335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670"/>
          </a:bodyPr>
          <a:lstStyle xmlns:a="http://schemas.openxmlformats.org/drawingml/2006/main"/>
          <a:p xmlns:a="http://schemas.openxmlformats.org/drawingml/2006/main">
            <a:pPr algn="ctr">
              <a:lnSpc>
                <a:spcPct val="92000"/>
              </a:lnSpc>
              <a:buNone/>
              <a:defRPr sz="915" b="0">
                <a:solidFill>
                  <a:srgbClr val="526477"/>
                </a:solidFill>
                <a:latin typeface="Aptos"/>
                <a:ea typeface="Aptos"/>
                <a:cs typeface="Aptos"/>
              </a:defRPr>
            </a:pPr>
            <a:r>
              <a:rPr sz="915" b="0">
                <a:solidFill>
                  <a:srgbClr val="526477"/>
                </a:solidFill>
                <a:latin typeface="Aptos"/>
                <a:ea typeface="Aptos"/>
                <a:cs typeface="Aptos"/>
              </a:rPr>
              <a:t>MLX90640</a:t>
            </a:r>
          </a:p>
          <a:p xmlns:a="http://schemas.openxmlformats.org/drawingml/2006/main">
            <a:pPr algn="ctr">
              <a:lnSpc>
                <a:spcPct val="92000"/>
              </a:lnSpc>
              <a:buNone/>
              <a:defRPr sz="915" b="0">
                <a:solidFill>
                  <a:srgbClr val="526477"/>
                </a:solidFill>
                <a:latin typeface="Aptos"/>
                <a:ea typeface="Aptos"/>
                <a:cs typeface="Aptos"/>
              </a:defRPr>
            </a:pPr>
            <a:r>
              <a:rPr sz="915" b="0">
                <a:solidFill>
                  <a:srgbClr val="526477"/>
                </a:solidFill>
                <a:latin typeface="Aptos"/>
                <a:ea typeface="Aptos"/>
                <a:cs typeface="Aptos"/>
              </a:rPr>
              <a:t>thermal frames</a:t>
            </a:r>
          </a:p>
        </p:txBody>
      </p:sp>
      <p:sp>
        <p:nvSpPr>
          <p:cNvPr id="88" name="validation-list">
            <a:extLst xmlns:a="http://schemas.openxmlformats.org/drawingml/2006/main">
              <a:ext uri="{FF2B5EF4-FFF2-40B4-BE49-F238E27FC236}">
                <a16:creationId xmlns:a16="http://schemas.microsoft.com/office/drawing/2014/main" id="{152B9303-90E8-476A-9331-80BE12724512}"/>
              </a:ext>
            </a:extLst>
          </p:cNvPr>
          <p:cNvSpPr>
            <a:spLocks xmlns:a="http://schemas.openxmlformats.org/drawingml/2006/main" noGrp="1"/>
          </p:cNvSpPr>
          <p:nvPr/>
        </p:nvSpPr>
        <p:spPr>
          <a:xfrm xmlns:a="http://schemas.openxmlformats.org/drawingml/2006/main">
            <a:off x="4019550" y="8115300"/>
            <a:ext cx="3105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527"/>
          </a:bodyPr>
          <a:lstStyle xmlns:a="http://schemas.openxmlformats.org/drawingml/2006/main"/>
          <a:p xmlns:a="http://schemas.openxmlformats.org/drawingml/2006/main">
            <a:pPr marL="16" indent="-10" algn="l">
              <a:lnSpc>
                <a:spcPct val="100000"/>
              </a:lnSpc>
              <a:spcAft>
                <a:spcPts val="2"/>
              </a:spcAft>
              <a:buNone/>
              <a:defRPr sz="1402" b="0">
                <a:solidFill>
                  <a:srgbClr val="142433"/>
                </a:solidFill>
                <a:latin typeface="Aptos"/>
                <a:ea typeface="Aptos"/>
                <a:cs typeface="Aptos"/>
              </a:defRPr>
            </a:pPr>
            <a:r>
              <a:rPr sz="1402" b="0">
                <a:solidFill>
                  <a:srgbClr val="142433"/>
                </a:solidFill>
                <a:latin typeface="Aptos"/>
                <a:ea typeface="Aptos"/>
                <a:cs typeface="Aptos"/>
              </a:rPr>
              <a:t>Gate A automated end to end</a:t>
            </a:r>
          </a:p>
          <a:p xmlns:a="http://schemas.openxmlformats.org/drawingml/2006/main">
            <a:pPr marL="16" indent="-10" algn="l">
              <a:lnSpc>
                <a:spcPct val="100000"/>
              </a:lnSpc>
              <a:spcAft>
                <a:spcPts val="2"/>
              </a:spcAft>
              <a:buNone/>
              <a:defRPr sz="1402" b="0">
                <a:solidFill>
                  <a:srgbClr val="142433"/>
                </a:solidFill>
                <a:latin typeface="Aptos"/>
                <a:ea typeface="Aptos"/>
                <a:cs typeface="Aptos"/>
              </a:defRPr>
            </a:pPr>
            <a:r>
              <a:rPr sz="1402" b="0">
                <a:solidFill>
                  <a:srgbClr val="142433"/>
                </a:solidFill>
                <a:latin typeface="Aptos"/>
                <a:ea typeface="Aptos"/>
                <a:cs typeface="Aptos"/>
              </a:rPr>
              <a:t>Real sensor summaries captured</a:t>
            </a:r>
          </a:p>
          <a:p xmlns:a="http://schemas.openxmlformats.org/drawingml/2006/main">
            <a:pPr marL="16" indent="-10" algn="l">
              <a:lnSpc>
                <a:spcPct val="100000"/>
              </a:lnSpc>
              <a:spcAft>
                <a:spcPts val="2"/>
              </a:spcAft>
              <a:buNone/>
              <a:defRPr sz="1402" b="0">
                <a:solidFill>
                  <a:srgbClr val="142433"/>
                </a:solidFill>
                <a:latin typeface="Aptos"/>
                <a:ea typeface="Aptos"/>
                <a:cs typeface="Aptos"/>
              </a:defRPr>
            </a:pPr>
            <a:r>
              <a:rPr sz="1402" b="0">
                <a:solidFill>
                  <a:srgbClr val="142433"/>
                </a:solidFill>
                <a:latin typeface="Aptos"/>
                <a:ea typeface="Aptos"/>
                <a:cs typeface="Aptos"/>
              </a:rPr>
              <a:t>Four sessions privacy-validated</a:t>
            </a:r>
          </a:p>
          <a:p xmlns:a="http://schemas.openxmlformats.org/drawingml/2006/main">
            <a:pPr marL="16" indent="-10" algn="l">
              <a:lnSpc>
                <a:spcPct val="100000"/>
              </a:lnSpc>
              <a:spcAft>
                <a:spcPts val="2"/>
              </a:spcAft>
              <a:buNone/>
              <a:defRPr sz="1402" b="0">
                <a:solidFill>
                  <a:srgbClr val="142433"/>
                </a:solidFill>
                <a:latin typeface="Aptos"/>
                <a:ea typeface="Aptos"/>
                <a:cs typeface="Aptos"/>
              </a:defRPr>
            </a:pPr>
            <a:r>
              <a:rPr sz="1402" b="0">
                <a:solidFill>
                  <a:srgbClr val="142433"/>
                </a:solidFill>
                <a:latin typeface="Aptos"/>
                <a:ea typeface="Aptos"/>
                <a:cs typeface="Aptos"/>
              </a:rPr>
              <a:t>Independent evaluation in progress</a:t>
            </a:r>
          </a:p>
        </p:txBody>
      </p:sp>
      <p:sp>
        <p:nvSpPr>
          <p:cNvPr id="89" name="section-LIVE DEMONSTRATION  •  UI PROTOTYPE">
            <a:extLst xmlns:a="http://schemas.openxmlformats.org/drawingml/2006/main">
              <a:ext uri="{FF2B5EF4-FFF2-40B4-BE49-F238E27FC236}">
                <a16:creationId xmlns:a16="http://schemas.microsoft.com/office/drawing/2014/main" id="{5ABEAB20-2ECA-4C99-B8BD-E2675B723D33}"/>
              </a:ext>
            </a:extLst>
          </p:cNvPr>
          <p:cNvSpPr>
            <a:spLocks xmlns:a="http://schemas.openxmlformats.org/drawingml/2006/main" noGrp="1"/>
          </p:cNvSpPr>
          <p:nvPr/>
        </p:nvSpPr>
        <p:spPr>
          <a:xfrm xmlns:a="http://schemas.openxmlformats.org/drawingml/2006/main">
            <a:off x="438150" y="8934450"/>
            <a:ext cx="66865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466"/>
          </a:bodyPr>
          <a:lstStyle xmlns:a="http://schemas.openxmlformats.org/drawingml/2006/main"/>
          <a:p xmlns:a="http://schemas.openxmlformats.org/drawingml/2006/main">
            <a:pPr algn="l">
              <a:lnSpc>
                <a:spcPct val="100000"/>
              </a:lnSpc>
              <a:buNone/>
              <a:defRPr sz="1538" b="1">
                <a:solidFill>
                  <a:srgbClr val="003D7C"/>
                </a:solidFill>
                <a:latin typeface="Aptos"/>
                <a:ea typeface="Aptos"/>
                <a:cs typeface="Aptos"/>
              </a:defRPr>
            </a:pPr>
            <a:r>
              <a:rPr sz="1538" b="1">
                <a:solidFill>
                  <a:srgbClr val="003D7C"/>
                </a:solidFill>
                <a:latin typeface="Aptos"/>
                <a:ea typeface="Aptos"/>
                <a:cs typeface="Aptos"/>
              </a:rPr>
              <a:t>LIVE DEMONSTRATION  •  UI PROTOTYPE</a:t>
            </a:r>
          </a:p>
        </p:txBody>
      </p:sp>
      <p:sp>
        <p:nvSpPr>
          <p:cNvPr id="90" name="rule-LIVE DEMONSTRATION  •  UI PROTOTYPE">
            <a:extLst xmlns:a="http://schemas.openxmlformats.org/drawingml/2006/main">
              <a:ext uri="{FF2B5EF4-FFF2-40B4-BE49-F238E27FC236}">
                <a16:creationId xmlns:a16="http://schemas.microsoft.com/office/drawing/2014/main" id="{CEA46EE8-6FDE-45E4-8EB5-5BB32C46C269}"/>
              </a:ext>
            </a:extLst>
          </p:cNvPr>
          <p:cNvSpPr>
            <a:spLocks xmlns:a="http://schemas.openxmlformats.org/drawingml/2006/main" noGrp="1"/>
          </p:cNvSpPr>
          <p:nvPr/>
        </p:nvSpPr>
        <p:spPr>
          <a:xfrm xmlns:a="http://schemas.openxmlformats.org/drawingml/2006/main">
            <a:off x="438150" y="9163050"/>
            <a:ext cx="6686550" cy="0"/>
          </a:xfrm>
          <a:prstGeom xmlns:a="http://schemas.openxmlformats.org/drawingml/2006/main" prst="line">
            <a:avLst/>
          </a:prstGeom>
          <a:noFill xmlns:a="http://schemas.openxmlformats.org/drawingml/2006/main"/>
          <a:ln xmlns:a="http://schemas.openxmlformats.org/drawingml/2006/main" w="9525">
            <a:solidFill>
              <a:srgbClr val="CAD4DE"/>
            </a:solidFill>
            <a:prstDash val="solid"/>
          </a:ln>
        </p:spPr>
      </p:sp>
      <p:sp>
        <p:nvSpPr>
          <p:cNvPr id="91" name="accent-LIVE DEMONSTRATION  •  UI PROTOTYPE">
            <a:extLst xmlns:a="http://schemas.openxmlformats.org/drawingml/2006/main">
              <a:ext uri="{FF2B5EF4-FFF2-40B4-BE49-F238E27FC236}">
                <a16:creationId xmlns:a16="http://schemas.microsoft.com/office/drawing/2014/main" id="{6E03DE0A-6967-4BF0-B9F5-2C863CFACA75}"/>
              </a:ext>
            </a:extLst>
          </p:cNvPr>
          <p:cNvSpPr>
            <a:spLocks xmlns:a="http://schemas.openxmlformats.org/drawingml/2006/main" noGrp="1"/>
          </p:cNvSpPr>
          <p:nvPr/>
        </p:nvSpPr>
        <p:spPr>
          <a:xfrm xmlns:a="http://schemas.openxmlformats.org/drawingml/2006/main">
            <a:off x="438150" y="9163050"/>
            <a:ext cx="552450" cy="0"/>
          </a:xfrm>
          <a:prstGeom xmlns:a="http://schemas.openxmlformats.org/drawingml/2006/main" prst="line">
            <a:avLst/>
          </a:prstGeom>
          <a:noFill xmlns:a="http://schemas.openxmlformats.org/drawingml/2006/main"/>
          <a:ln xmlns:a="http://schemas.openxmlformats.org/drawingml/2006/main" w="28575">
            <a:solidFill>
              <a:srgbClr val="EF7C00"/>
            </a:solidFill>
            <a:prstDash val="solid"/>
          </a:ln>
        </p:spPr>
      </p:sp>
      <p:sp>
        <p:nvSpPr>
          <p:cNvPr id="92" name="thermal-frame">
            <a:extLst xmlns:a="http://schemas.openxmlformats.org/drawingml/2006/main">
              <a:ext uri="{FF2B5EF4-FFF2-40B4-BE49-F238E27FC236}">
                <a16:creationId xmlns:a16="http://schemas.microsoft.com/office/drawing/2014/main" id="{0B2A8A9E-C58A-4D9B-9A37-C92437D6A692}"/>
              </a:ext>
            </a:extLst>
          </p:cNvPr>
          <p:cNvSpPr>
            <a:spLocks xmlns:a="http://schemas.openxmlformats.org/drawingml/2006/main" noGrp="1"/>
          </p:cNvSpPr>
          <p:nvPr/>
        </p:nvSpPr>
        <p:spPr>
          <a:xfrm xmlns:a="http://schemas.openxmlformats.org/drawingml/2006/main">
            <a:off x="438150" y="9239250"/>
            <a:ext cx="3257550" cy="904875"/>
          </a:xfrm>
          <a:prstGeom xmlns:a="http://schemas.openxmlformats.org/drawingml/2006/main" prst="roundRect">
            <a:avLst>
              <a:gd name="adj" fmla="val 10526"/>
            </a:avLst>
          </a:prstGeom>
          <a:solidFill xmlns:a="http://schemas.openxmlformats.org/drawingml/2006/main">
            <a:srgbClr val="002B57"/>
          </a:solidFill>
          <a:ln xmlns:a="http://schemas.openxmlformats.org/drawingml/2006/main" w="9525">
            <a:solidFill>
              <a:srgbClr val="003D7C"/>
            </a:solidFill>
            <a:prstDash val="solid"/>
          </a:ln>
        </p:spPr>
      </p:sp>
      <p:pic>
        <p:nvPicPr>
          <p:cNvPr id="195" name=""/>
          <p:cNvPicPr>
            <a:picLocks xmlns:a="http://schemas.openxmlformats.org/drawingml/2006/main" noChangeAspect="1"/>
          </p:cNvPicPr>
          <p:nvPr/>
        </p:nvPicPr>
        <p:blipFill>
          <a:blip xmlns:r="http://schemas.openxmlformats.org/officeDocument/2006/relationships" xmlns:a="http://schemas.openxmlformats.org/drawingml/2006/main" r:embed="R5edd3f1cd44f4935"/>
          <a:srcRect xmlns:a="http://schemas.openxmlformats.org/drawingml/2006/main" l="0" t="36211" r="0" b="36211"/>
          <a:stretch xmlns:a="http://schemas.openxmlformats.org/drawingml/2006/main">
            <a:fillRect l="0" t="0" r="0" b="0"/>
          </a:stretch>
        </p:blipFill>
        <p:spPr>
          <a:xfrm xmlns:a="http://schemas.openxmlformats.org/drawingml/2006/main">
            <a:off x="476250" y="9277350"/>
            <a:ext cx="3181350" cy="619125"/>
          </a:xfrm>
          <a:prstGeom xmlns:a="http://schemas.openxmlformats.org/drawingml/2006/main" prst="roundRect">
            <a:avLst>
              <a:gd name="adj" fmla="val 13846"/>
            </a:avLst>
          </a:prstGeom>
        </p:spPr>
      </p:pic>
      <p:sp>
        <p:nvSpPr>
          <p:cNvPr id="94" name="thermal-caption">
            <a:extLst xmlns:a="http://schemas.openxmlformats.org/drawingml/2006/main">
              <a:ext uri="{FF2B5EF4-FFF2-40B4-BE49-F238E27FC236}">
                <a16:creationId xmlns:a16="http://schemas.microsoft.com/office/drawing/2014/main" id="{A98C6CAA-7638-4839-BEE8-B6A6EFA4CF9B}"/>
              </a:ext>
            </a:extLst>
          </p:cNvPr>
          <p:cNvSpPr>
            <a:spLocks xmlns:a="http://schemas.openxmlformats.org/drawingml/2006/main" noGrp="1"/>
          </p:cNvSpPr>
          <p:nvPr/>
        </p:nvSpPr>
        <p:spPr>
          <a:xfrm xmlns:a="http://schemas.openxmlformats.org/drawingml/2006/main">
            <a:off x="552450" y="9915525"/>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402" b="1">
                <a:solidFill>
                  <a:srgbClr val="FFFFFF"/>
                </a:solidFill>
                <a:latin typeface="Aptos"/>
                <a:ea typeface="Aptos"/>
                <a:cs typeface="Aptos"/>
              </a:defRPr>
            </a:pPr>
            <a:r>
              <a:rPr sz="1402" b="1">
                <a:solidFill>
                  <a:srgbClr val="FFFFFF"/>
                </a:solidFill>
                <a:latin typeface="Aptos"/>
                <a:ea typeface="Aptos"/>
                <a:cs typeface="Aptos"/>
              </a:rPr>
              <a:t>Thermal view · mock data</a:t>
            </a:r>
          </a:p>
        </p:txBody>
      </p:sp>
      <p:sp>
        <p:nvSpPr>
          <p:cNvPr id="95" name="dashboard-frame">
            <a:extLst xmlns:a="http://schemas.openxmlformats.org/drawingml/2006/main">
              <a:ext uri="{FF2B5EF4-FFF2-40B4-BE49-F238E27FC236}">
                <a16:creationId xmlns:a16="http://schemas.microsoft.com/office/drawing/2014/main" id="{1A5B877F-0ADC-4A3C-A2C3-F44C9E0046C6}"/>
              </a:ext>
            </a:extLst>
          </p:cNvPr>
          <p:cNvSpPr>
            <a:spLocks xmlns:a="http://schemas.openxmlformats.org/drawingml/2006/main" noGrp="1"/>
          </p:cNvSpPr>
          <p:nvPr/>
        </p:nvSpPr>
        <p:spPr>
          <a:xfrm xmlns:a="http://schemas.openxmlformats.org/drawingml/2006/main">
            <a:off x="3867150" y="9239250"/>
            <a:ext cx="3257550" cy="904875"/>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003D7C"/>
            </a:solidFill>
            <a:prstDash val="solid"/>
          </a:ln>
        </p:spPr>
      </p:sp>
      <p:pic>
        <p:nvPicPr>
          <p:cNvPr id="198" name=""/>
          <p:cNvPicPr>
            <a:picLocks xmlns:a="http://schemas.openxmlformats.org/drawingml/2006/main" noChangeAspect="1"/>
          </p:cNvPicPr>
          <p:nvPr/>
        </p:nvPicPr>
        <p:blipFill>
          <a:blip xmlns:r="http://schemas.openxmlformats.org/officeDocument/2006/relationships" xmlns:a="http://schemas.openxmlformats.org/drawingml/2006/main" r:embed="R559e95ce1f784a28"/>
          <a:srcRect xmlns:a="http://schemas.openxmlformats.org/drawingml/2006/main" l="0" t="42235" r="0" b="42235"/>
          <a:stretch xmlns:a="http://schemas.openxmlformats.org/drawingml/2006/main">
            <a:fillRect l="0" t="0" r="0" b="0"/>
          </a:stretch>
        </p:blipFill>
        <p:spPr>
          <a:xfrm xmlns:a="http://schemas.openxmlformats.org/drawingml/2006/main">
            <a:off x="3905250" y="9277350"/>
            <a:ext cx="3181350" cy="619125"/>
          </a:xfrm>
          <a:prstGeom xmlns:a="http://schemas.openxmlformats.org/drawingml/2006/main" prst="roundRect">
            <a:avLst>
              <a:gd name="adj" fmla="val 13846"/>
            </a:avLst>
          </a:prstGeom>
        </p:spPr>
      </p:pic>
      <p:sp>
        <p:nvSpPr>
          <p:cNvPr id="97" name="dashboard-caption">
            <a:extLst xmlns:a="http://schemas.openxmlformats.org/drawingml/2006/main">
              <a:ext uri="{FF2B5EF4-FFF2-40B4-BE49-F238E27FC236}">
                <a16:creationId xmlns:a16="http://schemas.microsoft.com/office/drawing/2014/main" id="{4F74D630-2881-49A6-86FA-8CD7B24DAD45}"/>
              </a:ext>
            </a:extLst>
          </p:cNvPr>
          <p:cNvSpPr>
            <a:spLocks xmlns:a="http://schemas.openxmlformats.org/drawingml/2006/main" noGrp="1"/>
          </p:cNvSpPr>
          <p:nvPr/>
        </p:nvSpPr>
        <p:spPr>
          <a:xfrm xmlns:a="http://schemas.openxmlformats.org/drawingml/2006/main">
            <a:off x="3943350" y="9915525"/>
            <a:ext cx="3105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402" b="1">
                <a:solidFill>
                  <a:srgbClr val="003D7C"/>
                </a:solidFill>
                <a:latin typeface="Aptos"/>
                <a:ea typeface="Aptos"/>
                <a:cs typeface="Aptos"/>
              </a:defRPr>
            </a:pPr>
            <a:r>
              <a:rPr sz="1402" b="1">
                <a:solidFill>
                  <a:srgbClr val="003D7C"/>
                </a:solidFill>
                <a:latin typeface="Aptos"/>
                <a:ea typeface="Aptos"/>
                <a:cs typeface="Aptos"/>
              </a:rPr>
              <a:t>Recommendation UI · mock data</a:t>
            </a:r>
          </a:p>
        </p:txBody>
      </p:sp>
      <p:sp>
        <p:nvSpPr>
          <p:cNvPr id="98" name="footer-rule">
            <a:extLst xmlns:a="http://schemas.openxmlformats.org/drawingml/2006/main">
              <a:ext uri="{FF2B5EF4-FFF2-40B4-BE49-F238E27FC236}">
                <a16:creationId xmlns:a16="http://schemas.microsoft.com/office/drawing/2014/main" id="{518AA011-50CF-4922-9F3A-42A303C0518D}"/>
              </a:ext>
            </a:extLst>
          </p:cNvPr>
          <p:cNvSpPr>
            <a:spLocks xmlns:a="http://schemas.openxmlformats.org/drawingml/2006/main" noGrp="1"/>
          </p:cNvSpPr>
          <p:nvPr/>
        </p:nvSpPr>
        <p:spPr>
          <a:xfrm xmlns:a="http://schemas.openxmlformats.org/drawingml/2006/main">
            <a:off x="438150" y="10229850"/>
            <a:ext cx="6686550" cy="0"/>
          </a:xfrm>
          <a:prstGeom xmlns:a="http://schemas.openxmlformats.org/drawingml/2006/main" prst="line">
            <a:avLst/>
          </a:prstGeom>
          <a:noFill xmlns:a="http://schemas.openxmlformats.org/drawingml/2006/main"/>
          <a:ln xmlns:a="http://schemas.openxmlformats.org/drawingml/2006/main" w="9525">
            <a:solidFill>
              <a:srgbClr val="CAD4DE"/>
            </a:solidFill>
            <a:prstDash val="solid"/>
          </a:ln>
        </p:spPr>
      </p:sp>
      <p:sp>
        <p:nvSpPr>
          <p:cNvPr id="99" name="footer-group">
            <a:extLst xmlns:a="http://schemas.openxmlformats.org/drawingml/2006/main">
              <a:ext uri="{FF2B5EF4-FFF2-40B4-BE49-F238E27FC236}">
                <a16:creationId xmlns:a16="http://schemas.microsoft.com/office/drawing/2014/main" id="{26034029-6BFF-4EB4-87A2-3A9A27F01344}"/>
              </a:ext>
            </a:extLst>
          </p:cNvPr>
          <p:cNvSpPr>
            <a:spLocks xmlns:a="http://schemas.openxmlformats.org/drawingml/2006/main" noGrp="1"/>
          </p:cNvSpPr>
          <p:nvPr/>
        </p:nvSpPr>
        <p:spPr>
          <a:xfrm xmlns:a="http://schemas.openxmlformats.org/drawingml/2006/main">
            <a:off x="438150" y="10306050"/>
            <a:ext cx="5857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90" b="1">
                <a:solidFill>
                  <a:srgbClr val="003D7C"/>
                </a:solidFill>
                <a:latin typeface="Aptos"/>
                <a:ea typeface="Aptos"/>
                <a:cs typeface="Aptos"/>
              </a:defRPr>
            </a:pPr>
            <a:r>
              <a:rPr sz="990" b="1">
                <a:solidFill>
                  <a:srgbClr val="003D7C"/>
                </a:solidFill>
                <a:latin typeface="Aptos"/>
                <a:ea typeface="Aptos"/>
                <a:cs typeface="Aptos"/>
              </a:rPr>
              <a:t>Group [GROUP_NUMBER]  /  [MEMBERS]  /  NUS School of Computing  /  Summer Workshop 2026</a:t>
            </a:r>
          </a:p>
        </p:txBody>
      </p:sp>
      <p:sp>
        <p:nvSpPr>
          <p:cNvPr id="100" name="footer-purpose">
            <a:extLst xmlns:a="http://schemas.openxmlformats.org/drawingml/2006/main">
              <a:ext uri="{FF2B5EF4-FFF2-40B4-BE49-F238E27FC236}">
                <a16:creationId xmlns:a16="http://schemas.microsoft.com/office/drawing/2014/main" id="{B405AD55-008D-4C15-8A0E-1664833A3F7D}"/>
              </a:ext>
            </a:extLst>
          </p:cNvPr>
          <p:cNvSpPr>
            <a:spLocks xmlns:a="http://schemas.openxmlformats.org/drawingml/2006/main" noGrp="1"/>
          </p:cNvSpPr>
          <p:nvPr/>
        </p:nvSpPr>
        <p:spPr>
          <a:xfrm xmlns:a="http://schemas.openxmlformats.org/drawingml/2006/main">
            <a:off x="438150" y="10506075"/>
            <a:ext cx="5715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567"/>
          </a:bodyPr>
          <a:lstStyle xmlns:a="http://schemas.openxmlformats.org/drawingml/2006/main"/>
          <a:p xmlns:a="http://schemas.openxmlformats.org/drawingml/2006/main">
            <a:pPr algn="l">
              <a:lnSpc>
                <a:spcPct val="102000"/>
              </a:lnSpc>
              <a:buNone/>
              <a:defRPr sz="1163" b="0">
                <a:solidFill>
                  <a:srgbClr val="526477"/>
                </a:solidFill>
                <a:latin typeface="Aptos"/>
                <a:ea typeface="Aptos"/>
                <a:cs typeface="Aptos"/>
              </a:defRPr>
            </a:pPr>
            <a:r>
              <a:rPr sz="1163" b="0">
                <a:solidFill>
                  <a:srgbClr val="526477"/>
                </a:solidFill>
                <a:latin typeface="Aptos"/>
                <a:ea typeface="Aptos"/>
                <a:cs typeface="Aptos"/>
              </a:rPr>
              <a:t>Designed to support space-level decisions, not to monitor individuals.</a:t>
            </a:r>
          </a:p>
        </p:txBody>
      </p:sp>
      <p:sp>
        <p:nvSpPr>
          <p:cNvPr id="101" name="qr-placeholder">
            <a:extLst xmlns:a="http://schemas.openxmlformats.org/drawingml/2006/main">
              <a:ext uri="{FF2B5EF4-FFF2-40B4-BE49-F238E27FC236}">
                <a16:creationId xmlns:a16="http://schemas.microsoft.com/office/drawing/2014/main" id="{87C5104E-B50F-43FF-9CFC-8C09DB7A6452}"/>
              </a:ext>
            </a:extLst>
          </p:cNvPr>
          <p:cNvSpPr>
            <a:spLocks xmlns:a="http://schemas.openxmlformats.org/drawingml/2006/main" noGrp="1"/>
          </p:cNvSpPr>
          <p:nvPr/>
        </p:nvSpPr>
        <p:spPr>
          <a:xfrm xmlns:a="http://schemas.openxmlformats.org/drawingml/2006/main">
            <a:off x="6419850" y="10287000"/>
            <a:ext cx="704850" cy="333375"/>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1430">
            <a:solidFill>
              <a:srgbClr val="EF7C00"/>
            </a:solidFill>
            <a:prstDash val="dash"/>
          </a:ln>
        </p:spPr>
      </p:sp>
      <p:sp>
        <p:nvSpPr>
          <p:cNvPr id="102" name="qr-label">
            <a:extLst xmlns:a="http://schemas.openxmlformats.org/drawingml/2006/main">
              <a:ext uri="{FF2B5EF4-FFF2-40B4-BE49-F238E27FC236}">
                <a16:creationId xmlns:a16="http://schemas.microsoft.com/office/drawing/2014/main" id="{EFA0BF20-1DE2-4D06-8398-105D8B15F7CA}"/>
              </a:ext>
            </a:extLst>
          </p:cNvPr>
          <p:cNvSpPr>
            <a:spLocks xmlns:a="http://schemas.openxmlformats.org/drawingml/2006/main" noGrp="1"/>
          </p:cNvSpPr>
          <p:nvPr/>
        </p:nvSpPr>
        <p:spPr>
          <a:xfrm xmlns:a="http://schemas.openxmlformats.org/drawingml/2006/main">
            <a:off x="6467475" y="10353675"/>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788" b="1">
                <a:solidFill>
                  <a:srgbClr val="EF7C00"/>
                </a:solidFill>
                <a:latin typeface="Aptos"/>
                <a:ea typeface="Aptos"/>
                <a:cs typeface="Aptos"/>
              </a:defRPr>
            </a:pPr>
            <a:r>
              <a:rPr sz="788" b="1">
                <a:solidFill>
                  <a:srgbClr val="EF7C00"/>
                </a:solidFill>
                <a:latin typeface="Aptos"/>
                <a:ea typeface="Aptos"/>
                <a:cs typeface="Aptos"/>
              </a:rPr>
              <a:t>[QR_CODE]</a:t>
            </a:r>
          </a:p>
        </p:txBody>
      </p:sp>
    </p:spTree>
    <p:extLst>
      <p:ext uri="{BB962C8B-B14F-4D97-AF65-F5344CB8AC3E}">
        <p14:creationId xmlns:p14="http://schemas.microsoft.com/office/powerpoint/2010/main" val="10668988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2026-07-27T08:04:12.0010000Z</dcterms:created>
  <dcterms:modified xsi:type="dcterms:W3CDTF">2026-07-27T08:04:12.0010000Z</dcterms:modified>
</coreProperties>
</file>